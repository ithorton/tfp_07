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73" r:id="rId8"/>
    <p:sldId id="262" r:id="rId9"/>
    <p:sldId id="271" r:id="rId10"/>
    <p:sldId id="272" r:id="rId11"/>
    <p:sldId id="263" r:id="rId12"/>
    <p:sldId id="265" r:id="rId13"/>
    <p:sldId id="266"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5555"/>
    <a:srgbClr val="274472"/>
    <a:srgbClr val="CCCCCC"/>
    <a:srgbClr val="DDE6F3"/>
    <a:srgbClr val="333333"/>
    <a:srgbClr val="1E2A38"/>
    <a:srgbClr val="330000"/>
    <a:srgbClr val="666666"/>
    <a:srgbClr val="1EFD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0"/>
  </p:normalViewPr>
  <p:slideViewPr>
    <p:cSldViewPr snapToGrid="0">
      <p:cViewPr varScale="1">
        <p:scale>
          <a:sx n="114" d="100"/>
          <a:sy n="114" d="100"/>
        </p:scale>
        <p:origin x="5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582811-1E6E-4D42-BD82-D3653B6909DD}" type="datetimeFigureOut">
              <a:rPr lang="en-US" smtClean="0"/>
              <a:t>11/25/25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E8F5CF-66D4-8D41-B34E-C3C980EF97AE}" type="slidenum">
              <a:rPr lang="en-US" smtClean="0"/>
              <a:t>‹#›</a:t>
            </a:fld>
            <a:endParaRPr lang="en-US"/>
          </a:p>
        </p:txBody>
      </p:sp>
    </p:spTree>
    <p:extLst>
      <p:ext uri="{BB962C8B-B14F-4D97-AF65-F5344CB8AC3E}">
        <p14:creationId xmlns:p14="http://schemas.microsoft.com/office/powerpoint/2010/main" val="2046788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 Here you can see our aggregate Benford’s expectations on the left, which shows how the overall dataset fits the expected pattern. On the right, we zoomed in at the company level, where you can see a company CIKs that deviated substantially.</a:t>
            </a:r>
          </a:p>
        </p:txBody>
      </p:sp>
      <p:sp>
        <p:nvSpPr>
          <p:cNvPr id="4" name="Slide Number Placeholder 3"/>
          <p:cNvSpPr>
            <a:spLocks noGrp="1"/>
          </p:cNvSpPr>
          <p:nvPr>
            <p:ph type="sldNum" sz="quarter" idx="5"/>
          </p:nvPr>
        </p:nvSpPr>
        <p:spPr/>
        <p:txBody>
          <a:bodyPr/>
          <a:lstStyle/>
          <a:p>
            <a:fld id="{BAE8F5CF-66D4-8D41-B34E-C3C980EF97AE}" type="slidenum">
              <a:rPr lang="en-US" smtClean="0"/>
              <a:t>9</a:t>
            </a:fld>
            <a:endParaRPr lang="en-US"/>
          </a:p>
        </p:txBody>
      </p:sp>
    </p:spTree>
    <p:extLst>
      <p:ext uri="{BB962C8B-B14F-4D97-AF65-F5344CB8AC3E}">
        <p14:creationId xmlns:p14="http://schemas.microsoft.com/office/powerpoint/2010/main" val="1443098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Notes: Here’s how our hypotheses performed statistically. We didn’t find strong evidence for more outliers or higher z-scores, but the correlation result stood out. Firms deviating from Benford’s Law had weaker internal consistent between revenue and expense, which could signal irregular reporting behavior. </a:t>
            </a:r>
          </a:p>
        </p:txBody>
      </p:sp>
      <p:sp>
        <p:nvSpPr>
          <p:cNvPr id="4" name="Slide Number Placeholder 3"/>
          <p:cNvSpPr>
            <a:spLocks noGrp="1"/>
          </p:cNvSpPr>
          <p:nvPr>
            <p:ph type="sldNum" sz="quarter" idx="5"/>
          </p:nvPr>
        </p:nvSpPr>
        <p:spPr/>
        <p:txBody>
          <a:bodyPr/>
          <a:lstStyle/>
          <a:p>
            <a:fld id="{BAE8F5CF-66D4-8D41-B34E-C3C980EF97AE}" type="slidenum">
              <a:rPr lang="en-US" smtClean="0"/>
              <a:t>10</a:t>
            </a:fld>
            <a:endParaRPr lang="en-US"/>
          </a:p>
        </p:txBody>
      </p:sp>
    </p:spTree>
    <p:extLst>
      <p:ext uri="{BB962C8B-B14F-4D97-AF65-F5344CB8AC3E}">
        <p14:creationId xmlns:p14="http://schemas.microsoft.com/office/powerpoint/2010/main" val="2784738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109C-6062-B84D-8600-03DE058469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EF63E-6566-D750-AAA7-96774CD90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6E78CB-C352-5C4B-5A2D-EA1FB8CCE688}"/>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5" name="Footer Placeholder 4">
            <a:extLst>
              <a:ext uri="{FF2B5EF4-FFF2-40B4-BE49-F238E27FC236}">
                <a16:creationId xmlns:a16="http://schemas.microsoft.com/office/drawing/2014/main" id="{44A3269B-44EA-40E9-5A2B-C61C09820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B272F-C885-C9D4-D42D-C1ED4976080B}"/>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2176225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08A3D-7A54-58DF-44E0-3FD21898D5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84C26-B692-F2CC-3BAD-5F049DB4C0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AAF82-2116-08B2-406D-A29996F4EC9C}"/>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5" name="Footer Placeholder 4">
            <a:extLst>
              <a:ext uri="{FF2B5EF4-FFF2-40B4-BE49-F238E27FC236}">
                <a16:creationId xmlns:a16="http://schemas.microsoft.com/office/drawing/2014/main" id="{B9BB030B-5504-D74C-0EDA-84EC5031E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6D6B66-6AEB-ACA6-41B1-698AB8646041}"/>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3420052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FAA2B-C8F0-CECB-F3A5-B06D666097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58392D-5799-1ABD-EB06-D4876CE396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3AAC5-3CB0-8380-0DAF-D3F93C2B6B60}"/>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5" name="Footer Placeholder 4">
            <a:extLst>
              <a:ext uri="{FF2B5EF4-FFF2-40B4-BE49-F238E27FC236}">
                <a16:creationId xmlns:a16="http://schemas.microsoft.com/office/drawing/2014/main" id="{B6D66716-86C3-C2F9-5965-D7AE402784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A646A0-D825-4B06-360C-56E46FA557EA}"/>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1937427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C26F4-4E4D-97B7-8A51-B701C2CB70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2910A6-6DAC-0F17-642D-D40B90D872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401A5F-FC72-7604-4EF7-D11E990708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9EE31-BB4D-6707-2934-539AD984487D}"/>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6" name="Footer Placeholder 5">
            <a:extLst>
              <a:ext uri="{FF2B5EF4-FFF2-40B4-BE49-F238E27FC236}">
                <a16:creationId xmlns:a16="http://schemas.microsoft.com/office/drawing/2014/main" id="{15DF51A9-34DE-A67E-D486-B6B2537B9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4B8852-2CF3-5EEC-E6C4-45F8D5A19027}"/>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1700919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C2199-0086-8D6F-F2C6-A617DC1A48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993F9D-E917-6853-B8ED-0151A43323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CBB3AF-AAF9-A8AD-3B76-19574D00E3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E19F8-7D69-A3D1-E02E-07D949F629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C6E9D6-B28D-1B33-A5FF-84B04542E6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FCDBD7-E306-6F3B-88C3-20F3CB2DD027}"/>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8" name="Footer Placeholder 7">
            <a:extLst>
              <a:ext uri="{FF2B5EF4-FFF2-40B4-BE49-F238E27FC236}">
                <a16:creationId xmlns:a16="http://schemas.microsoft.com/office/drawing/2014/main" id="{05C1A033-A931-485F-7844-EE36861368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D52E16-FCD1-32B2-12F0-797141423D4A}"/>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3559873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FE89B-0283-2E39-9E88-DC453B7B7A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6329D6-1A31-558F-100D-7F509C916214}"/>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4" name="Footer Placeholder 3">
            <a:extLst>
              <a:ext uri="{FF2B5EF4-FFF2-40B4-BE49-F238E27FC236}">
                <a16:creationId xmlns:a16="http://schemas.microsoft.com/office/drawing/2014/main" id="{F4379068-9ED5-79AB-C00E-4B0863BEB5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9F52FC-0269-FC5A-6134-783FD9B73C47}"/>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2905531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79746D-0004-D64A-8B1F-FB13402C62BC}"/>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3" name="Footer Placeholder 2">
            <a:extLst>
              <a:ext uri="{FF2B5EF4-FFF2-40B4-BE49-F238E27FC236}">
                <a16:creationId xmlns:a16="http://schemas.microsoft.com/office/drawing/2014/main" id="{4DCE804C-4DDE-3CCB-28A2-B64226013B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DF2FED-12D7-0B77-B1AD-4C8AE7D503B6}"/>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2613527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EB431-AFAA-CD74-E168-B34A6C52C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F9E6D5-EAE3-2D14-74C0-697B152900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82329-E74B-5250-FB6C-6BD1F3842C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198F0E-71E7-AE40-9937-0F0E48B247B4}"/>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6" name="Footer Placeholder 5">
            <a:extLst>
              <a:ext uri="{FF2B5EF4-FFF2-40B4-BE49-F238E27FC236}">
                <a16:creationId xmlns:a16="http://schemas.microsoft.com/office/drawing/2014/main" id="{380D5259-62C7-C944-0949-25F11B8604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F9CB33-2F12-B425-3FD0-E394FDC9B774}"/>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2998001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DA22C-46CB-44ED-B9F3-F6EB60AAF8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919320-E2B3-85B2-4F8F-D96AB574AC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D2379D-128D-C878-FCE2-623032628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0321AF-9B60-C936-1E07-F8E6964367DE}"/>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6" name="Footer Placeholder 5">
            <a:extLst>
              <a:ext uri="{FF2B5EF4-FFF2-40B4-BE49-F238E27FC236}">
                <a16:creationId xmlns:a16="http://schemas.microsoft.com/office/drawing/2014/main" id="{42A1F1A7-19C8-1257-1E33-BB83BFD143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73DF31-1FFD-5E28-A7AD-6F27145736EF}"/>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2685412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45EE5-CFAD-39DE-86C1-30C42DE37A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B14A17-AEF7-7112-85A3-2C0D9D16D2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49579-8BFA-10CE-585B-163A18335D7D}"/>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5" name="Footer Placeholder 4">
            <a:extLst>
              <a:ext uri="{FF2B5EF4-FFF2-40B4-BE49-F238E27FC236}">
                <a16:creationId xmlns:a16="http://schemas.microsoft.com/office/drawing/2014/main" id="{34C6210F-C10F-3E37-022C-3FFCC0FA16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9D7E6F-A91F-BF88-38B3-5A725841C3E7}"/>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155096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FEDAA6-90CE-36AA-67AA-1351AABFC8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3430E0-5521-44C1-73DC-74E973C1B1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203E23-844C-107F-E91F-C8C750A6194F}"/>
              </a:ext>
            </a:extLst>
          </p:cNvPr>
          <p:cNvSpPr>
            <a:spLocks noGrp="1"/>
          </p:cNvSpPr>
          <p:nvPr>
            <p:ph type="dt" sz="half" idx="10"/>
          </p:nvPr>
        </p:nvSpPr>
        <p:spPr/>
        <p:txBody>
          <a:bodyPr/>
          <a:lstStyle/>
          <a:p>
            <a:fld id="{5792978D-56CB-9F4D-9E0F-A74DF2918944}" type="datetimeFigureOut">
              <a:rPr lang="en-US" smtClean="0"/>
              <a:t>11/25/25</a:t>
            </a:fld>
            <a:endParaRPr lang="en-US"/>
          </a:p>
        </p:txBody>
      </p:sp>
      <p:sp>
        <p:nvSpPr>
          <p:cNvPr id="5" name="Footer Placeholder 4">
            <a:extLst>
              <a:ext uri="{FF2B5EF4-FFF2-40B4-BE49-F238E27FC236}">
                <a16:creationId xmlns:a16="http://schemas.microsoft.com/office/drawing/2014/main" id="{F9DB1A20-CA65-32DD-3589-CB0034F75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D24BAE-A3F4-C2D0-C6A5-2BD71A78AF32}"/>
              </a:ext>
            </a:extLst>
          </p:cNvPr>
          <p:cNvSpPr>
            <a:spLocks noGrp="1"/>
          </p:cNvSpPr>
          <p:nvPr>
            <p:ph type="sldNum" sz="quarter" idx="12"/>
          </p:nvPr>
        </p:nvSpPr>
        <p:spPr/>
        <p:txBody>
          <a:bodyPr/>
          <a:lstStyle/>
          <a:p>
            <a:fld id="{69162E2D-2974-2844-B0C1-F5E265B01E21}" type="slidenum">
              <a:rPr lang="en-US" smtClean="0"/>
              <a:t>‹#›</a:t>
            </a:fld>
            <a:endParaRPr lang="en-US"/>
          </a:p>
        </p:txBody>
      </p:sp>
    </p:spTree>
    <p:extLst>
      <p:ext uri="{BB962C8B-B14F-4D97-AF65-F5344CB8AC3E}">
        <p14:creationId xmlns:p14="http://schemas.microsoft.com/office/powerpoint/2010/main" val="1107904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F93D69-42A4-DFBA-4C7A-DF908A435F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834F03-A8AC-4BDE-9CFD-28D7284A1C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2EDA9F-D271-39AC-8328-FA970B4208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92978D-56CB-9F4D-9E0F-A74DF2918944}" type="datetimeFigureOut">
              <a:rPr lang="en-US" smtClean="0"/>
              <a:t>11/25/25</a:t>
            </a:fld>
            <a:endParaRPr lang="en-US"/>
          </a:p>
        </p:txBody>
      </p:sp>
      <p:sp>
        <p:nvSpPr>
          <p:cNvPr id="5" name="Footer Placeholder 4">
            <a:extLst>
              <a:ext uri="{FF2B5EF4-FFF2-40B4-BE49-F238E27FC236}">
                <a16:creationId xmlns:a16="http://schemas.microsoft.com/office/drawing/2014/main" id="{923503FE-35B6-E637-D114-BE55F81972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086E57-9178-3D40-C582-DB495EABDC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162E2D-2974-2844-B0C1-F5E265B01E21}" type="slidenum">
              <a:rPr lang="en-US" smtClean="0"/>
              <a:t>‹#›</a:t>
            </a:fld>
            <a:endParaRPr lang="en-US"/>
          </a:p>
        </p:txBody>
      </p:sp>
    </p:spTree>
    <p:extLst>
      <p:ext uri="{BB962C8B-B14F-4D97-AF65-F5344CB8AC3E}">
        <p14:creationId xmlns:p14="http://schemas.microsoft.com/office/powerpoint/2010/main" val="241265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ec.gov/litigation/litreleases.htm" TargetMode="External"/><Relationship Id="rId2" Type="http://schemas.openxmlformats.org/officeDocument/2006/relationships/hyperlink" Target="https://www.sec.gov/dera/data/financial-statement-data-sets" TargetMode="External"/><Relationship Id="rId1" Type="http://schemas.openxmlformats.org/officeDocument/2006/relationships/slideLayout" Target="../slideLayouts/slideLayout2.xml"/><Relationship Id="rId4" Type="http://schemas.openxmlformats.org/officeDocument/2006/relationships/hyperlink" Target="https://www.data.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54015-2AED-07C6-D6E5-CEDCAE54F004}"/>
              </a:ext>
            </a:extLst>
          </p:cNvPr>
          <p:cNvSpPr>
            <a:spLocks noGrp="1"/>
          </p:cNvSpPr>
          <p:nvPr>
            <p:ph type="title"/>
          </p:nvPr>
        </p:nvSpPr>
        <p:spPr>
          <a:xfrm>
            <a:off x="488950" y="1550082"/>
            <a:ext cx="10515600" cy="2852737"/>
          </a:xfrm>
        </p:spPr>
        <p:txBody>
          <a:bodyPr>
            <a:normAutofit/>
          </a:bodyPr>
          <a:lstStyle/>
          <a:p>
            <a:r>
              <a:rPr lang="en-US">
                <a:solidFill>
                  <a:srgbClr val="274472"/>
                </a:solidFill>
                <a:latin typeface="Calibri" panose="020F0502020204030204" pitchFamily="34" charset="0"/>
                <a:cs typeface="Calibri" panose="020F0502020204030204" pitchFamily="34" charset="0"/>
              </a:rPr>
              <a:t>Forensic Accounting: Detecting Financial Anomalies Using Benford’s Law </a:t>
            </a:r>
          </a:p>
        </p:txBody>
      </p:sp>
      <p:sp>
        <p:nvSpPr>
          <p:cNvPr id="3" name="Subtitle 2">
            <a:extLst>
              <a:ext uri="{FF2B5EF4-FFF2-40B4-BE49-F238E27FC236}">
                <a16:creationId xmlns:a16="http://schemas.microsoft.com/office/drawing/2014/main" id="{EE07EF1E-210B-8D67-F30A-02CDABAABE89}"/>
              </a:ext>
            </a:extLst>
          </p:cNvPr>
          <p:cNvSpPr>
            <a:spLocks noGrp="1"/>
          </p:cNvSpPr>
          <p:nvPr>
            <p:ph type="body" idx="1"/>
          </p:nvPr>
        </p:nvSpPr>
        <p:spPr>
          <a:xfrm>
            <a:off x="488950" y="5198382"/>
            <a:ext cx="10515600" cy="1500187"/>
          </a:xfrm>
        </p:spPr>
        <p:txBody>
          <a:bodyPr/>
          <a:lstStyle/>
          <a:p>
            <a:r>
              <a:rPr lang="en-US">
                <a:solidFill>
                  <a:srgbClr val="555555"/>
                </a:solidFill>
                <a:latin typeface="Calibri Light" panose="020F0302020204030204" pitchFamily="34" charset="0"/>
                <a:cs typeface="Calibri Light" panose="020F0302020204030204" pitchFamily="34" charset="0"/>
              </a:rPr>
              <a:t>DASC 10003: Group 7: Ian Horton, Harlie Lockhart, Tre McEntire</a:t>
            </a:r>
          </a:p>
        </p:txBody>
      </p:sp>
      <p:cxnSp>
        <p:nvCxnSpPr>
          <p:cNvPr id="8" name="Straight Connector 7">
            <a:extLst>
              <a:ext uri="{FF2B5EF4-FFF2-40B4-BE49-F238E27FC236}">
                <a16:creationId xmlns:a16="http://schemas.microsoft.com/office/drawing/2014/main" id="{1E923572-3D0C-CB1E-5319-293699F1CB83}"/>
              </a:ext>
            </a:extLst>
          </p:cNvPr>
          <p:cNvCxnSpPr>
            <a:cxnSpLocks/>
          </p:cNvCxnSpPr>
          <p:nvPr/>
        </p:nvCxnSpPr>
        <p:spPr>
          <a:xfrm>
            <a:off x="0" y="4800600"/>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101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FB4069-0A90-B63C-0D74-D13FB9575F0E}"/>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Project Overview</a:t>
            </a:r>
          </a:p>
        </p:txBody>
      </p:sp>
      <p:sp>
        <p:nvSpPr>
          <p:cNvPr id="5" name="Content Placeholder 4">
            <a:extLst>
              <a:ext uri="{FF2B5EF4-FFF2-40B4-BE49-F238E27FC236}">
                <a16:creationId xmlns:a16="http://schemas.microsoft.com/office/drawing/2014/main" id="{B44058F6-DFEE-E10B-687C-AAB9EADF8803}"/>
              </a:ext>
            </a:extLst>
          </p:cNvPr>
          <p:cNvSpPr>
            <a:spLocks noGrp="1"/>
          </p:cNvSpPr>
          <p:nvPr>
            <p:ph idx="1"/>
          </p:nvPr>
        </p:nvSpPr>
        <p:spPr/>
        <p:txBody>
          <a:bodyPr>
            <a:normAutofit lnSpcReduction="10000"/>
          </a:bodyPr>
          <a:lstStyle/>
          <a:p>
            <a:pPr marL="0" indent="0">
              <a:buNone/>
            </a:pPr>
            <a:r>
              <a:rPr lang="en-US">
                <a:solidFill>
                  <a:srgbClr val="555555"/>
                </a:solidFill>
                <a:latin typeface="Calibri" panose="020F0502020204030204" pitchFamily="34" charset="0"/>
                <a:cs typeface="Calibri" panose="020F0502020204030204" pitchFamily="34" charset="0"/>
              </a:rPr>
              <a:t>Our project explores how data science can uncover signs of financial irregularities. We analyzed real data from the U.S Securities and Exchange Commission (SEC) to test whether company financial reports follow Benford’s Law, a mathematical principle that describes how digits normally appear in natural datasets.</a:t>
            </a:r>
          </a:p>
          <a:p>
            <a:pPr marL="0" indent="0">
              <a:buNone/>
            </a:pPr>
            <a:endParaRPr lang="en-US">
              <a:solidFill>
                <a:srgbClr val="555555"/>
              </a:solidFill>
              <a:latin typeface="Calibri" panose="020F0502020204030204" pitchFamily="34" charset="0"/>
              <a:cs typeface="Calibri" panose="020F0502020204030204" pitchFamily="34" charset="0"/>
            </a:endParaRPr>
          </a:p>
          <a:p>
            <a:pPr marL="0" indent="0">
              <a:buNone/>
            </a:pPr>
            <a:r>
              <a:rPr lang="en-US">
                <a:solidFill>
                  <a:srgbClr val="555555"/>
                </a:solidFill>
                <a:latin typeface="Calibri" panose="020F0502020204030204" pitchFamily="34" charset="0"/>
                <a:cs typeface="Calibri" panose="020F0502020204030204" pitchFamily="34" charset="0"/>
              </a:rPr>
              <a:t>We used: </a:t>
            </a:r>
          </a:p>
          <a:p>
            <a:r>
              <a:rPr lang="en-US">
                <a:solidFill>
                  <a:srgbClr val="555555"/>
                </a:solidFill>
                <a:latin typeface="Calibri" panose="020F0502020204030204" pitchFamily="34" charset="0"/>
                <a:cs typeface="Calibri" panose="020F0502020204030204" pitchFamily="34" charset="0"/>
              </a:rPr>
              <a:t>Python for data cleaning and visualization</a:t>
            </a:r>
          </a:p>
          <a:p>
            <a:r>
              <a:rPr lang="en-US" err="1">
                <a:solidFill>
                  <a:srgbClr val="555555"/>
                </a:solidFill>
                <a:latin typeface="Calibri" panose="020F0502020204030204" pitchFamily="34" charset="0"/>
                <a:cs typeface="Calibri" panose="020F0502020204030204" pitchFamily="34" charset="0"/>
              </a:rPr>
              <a:t>Jupyter</a:t>
            </a:r>
            <a:r>
              <a:rPr lang="en-US">
                <a:solidFill>
                  <a:srgbClr val="555555"/>
                </a:solidFill>
                <a:latin typeface="Calibri" panose="020F0502020204030204" pitchFamily="34" charset="0"/>
                <a:cs typeface="Calibri" panose="020F0502020204030204" pitchFamily="34" charset="0"/>
              </a:rPr>
              <a:t> Notebook to combine our code, visuals, and explanations into one place </a:t>
            </a:r>
          </a:p>
        </p:txBody>
      </p:sp>
    </p:spTree>
    <p:extLst>
      <p:ext uri="{BB962C8B-B14F-4D97-AF65-F5344CB8AC3E}">
        <p14:creationId xmlns:p14="http://schemas.microsoft.com/office/powerpoint/2010/main" val="3478692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BAD828-8043-8DA9-B239-A2849F82A6F6}"/>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Dataset Overview</a:t>
            </a:r>
          </a:p>
        </p:txBody>
      </p:sp>
      <p:sp>
        <p:nvSpPr>
          <p:cNvPr id="5" name="Content Placeholder 4">
            <a:extLst>
              <a:ext uri="{FF2B5EF4-FFF2-40B4-BE49-F238E27FC236}">
                <a16:creationId xmlns:a16="http://schemas.microsoft.com/office/drawing/2014/main" id="{6967C1CB-8695-B9EA-2113-2D7791B5BACB}"/>
              </a:ext>
            </a:extLst>
          </p:cNvPr>
          <p:cNvSpPr>
            <a:spLocks noGrp="1"/>
          </p:cNvSpPr>
          <p:nvPr>
            <p:ph idx="1"/>
          </p:nvPr>
        </p:nvSpPr>
        <p:spPr/>
        <p:txBody>
          <a:bodyPr/>
          <a:lstStyle/>
          <a:p>
            <a:pPr marL="0" indent="0">
              <a:buNone/>
            </a:pPr>
            <a:r>
              <a:rPr lang="en-US">
                <a:solidFill>
                  <a:srgbClr val="555555"/>
                </a:solidFill>
                <a:latin typeface="Calibri" panose="020F0502020204030204" pitchFamily="34" charset="0"/>
                <a:cs typeface="Calibri" panose="020F0502020204030204" pitchFamily="34" charset="0"/>
              </a:rPr>
              <a:t>We used SEC Financial Statement Data from 2020 through 2024, including quarterly filings from publicly traded companies.</a:t>
            </a:r>
          </a:p>
          <a:p>
            <a:pPr marL="0" indent="0">
              <a:buNone/>
            </a:pPr>
            <a:endParaRPr lang="en-US">
              <a:solidFill>
                <a:srgbClr val="555555"/>
              </a:solidFill>
              <a:latin typeface="Calibri" panose="020F0502020204030204" pitchFamily="34" charset="0"/>
              <a:cs typeface="Calibri" panose="020F0502020204030204" pitchFamily="34" charset="0"/>
            </a:endParaRPr>
          </a:p>
          <a:p>
            <a:pPr marL="0" indent="0">
              <a:buNone/>
            </a:pPr>
            <a:r>
              <a:rPr lang="en-US">
                <a:solidFill>
                  <a:srgbClr val="555555"/>
                </a:solidFill>
                <a:latin typeface="Calibri" panose="020F0502020204030204" pitchFamily="34" charset="0"/>
                <a:cs typeface="Calibri" panose="020F0502020204030204" pitchFamily="34" charset="0"/>
              </a:rPr>
              <a:t>Key data included:</a:t>
            </a:r>
          </a:p>
          <a:p>
            <a:r>
              <a:rPr lang="en-US">
                <a:solidFill>
                  <a:srgbClr val="555555"/>
                </a:solidFill>
                <a:latin typeface="Calibri" panose="020F0502020204030204" pitchFamily="34" charset="0"/>
                <a:cs typeface="Calibri" panose="020F0502020204030204" pitchFamily="34" charset="0"/>
              </a:rPr>
              <a:t>Revenue, expenses, assets, and liabilities </a:t>
            </a:r>
          </a:p>
          <a:p>
            <a:r>
              <a:rPr lang="en-US">
                <a:solidFill>
                  <a:srgbClr val="555555"/>
                </a:solidFill>
                <a:latin typeface="Calibri" panose="020F0502020204030204" pitchFamily="34" charset="0"/>
                <a:cs typeface="Calibri" panose="020F0502020204030204" pitchFamily="34" charset="0"/>
              </a:rPr>
              <a:t>Company names, industry codes, and fiscal periods</a:t>
            </a:r>
          </a:p>
          <a:p>
            <a:endParaRPr lang="en-US">
              <a:solidFill>
                <a:srgbClr val="555555"/>
              </a:solidFill>
              <a:latin typeface="Calibri" panose="020F0502020204030204" pitchFamily="34" charset="0"/>
              <a:cs typeface="Calibri" panose="020F0502020204030204" pitchFamily="34" charset="0"/>
            </a:endParaRPr>
          </a:p>
          <a:p>
            <a:pPr marL="0" indent="0">
              <a:buNone/>
            </a:pPr>
            <a:r>
              <a:rPr lang="en-US">
                <a:solidFill>
                  <a:srgbClr val="555555"/>
                </a:solidFill>
                <a:latin typeface="Calibri" panose="020F0502020204030204" pitchFamily="34" charset="0"/>
                <a:cs typeface="Calibri" panose="020F0502020204030204" pitchFamily="34" charset="0"/>
              </a:rPr>
              <a:t>We chose this dataset because it is publicly available, trustworthy, and ideal for analyzing financial patterns and detecting anomalies. </a:t>
            </a:r>
          </a:p>
        </p:txBody>
      </p:sp>
    </p:spTree>
    <p:extLst>
      <p:ext uri="{BB962C8B-B14F-4D97-AF65-F5344CB8AC3E}">
        <p14:creationId xmlns:p14="http://schemas.microsoft.com/office/powerpoint/2010/main" val="209375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3067A3-9720-BB43-FEDB-9C822840F037}"/>
              </a:ext>
            </a:extLst>
          </p:cNvPr>
          <p:cNvSpPr>
            <a:spLocks noGrp="1"/>
          </p:cNvSpPr>
          <p:nvPr>
            <p:ph type="title"/>
          </p:nvPr>
        </p:nvSpPr>
        <p:spPr>
          <a:xfrm>
            <a:off x="838200" y="490083"/>
            <a:ext cx="10515600" cy="1325563"/>
          </a:xfrm>
        </p:spPr>
        <p:txBody>
          <a:bodyPr/>
          <a:lstStyle/>
          <a:p>
            <a:r>
              <a:rPr lang="en-US">
                <a:solidFill>
                  <a:srgbClr val="274472"/>
                </a:solidFill>
                <a:latin typeface="Calibri" panose="020F0502020204030204" pitchFamily="34" charset="0"/>
                <a:cs typeface="Calibri" panose="020F0502020204030204" pitchFamily="34" charset="0"/>
              </a:rPr>
              <a:t>Hypotheses </a:t>
            </a:r>
          </a:p>
        </p:txBody>
      </p:sp>
      <p:sp>
        <p:nvSpPr>
          <p:cNvPr id="5" name="Content Placeholder 4">
            <a:extLst>
              <a:ext uri="{FF2B5EF4-FFF2-40B4-BE49-F238E27FC236}">
                <a16:creationId xmlns:a16="http://schemas.microsoft.com/office/drawing/2014/main" id="{8B2B7D84-F046-3943-1633-D525620303C4}"/>
              </a:ext>
            </a:extLst>
          </p:cNvPr>
          <p:cNvSpPr>
            <a:spLocks noGrp="1"/>
          </p:cNvSpPr>
          <p:nvPr>
            <p:ph sz="half" idx="1"/>
          </p:nvPr>
        </p:nvSpPr>
        <p:spPr>
          <a:xfrm>
            <a:off x="642255" y="2286000"/>
            <a:ext cx="8860973" cy="1325556"/>
          </a:xfrm>
        </p:spPr>
        <p:txBody>
          <a:bodyPr>
            <a:normAutofit/>
          </a:bodyPr>
          <a:lstStyle/>
          <a:p>
            <a:pPr marL="0" indent="0">
              <a:buNone/>
            </a:pPr>
            <a:r>
              <a:rPr lang="en-US" dirty="0">
                <a:solidFill>
                  <a:srgbClr val="555555"/>
                </a:solidFill>
                <a:latin typeface="Calibri" panose="020F0502020204030204" pitchFamily="34" charset="0"/>
                <a:cs typeface="Calibri" panose="020F0502020204030204" pitchFamily="34" charset="0"/>
              </a:rPr>
              <a:t>Null Hypothesis: Companies have no errors and will follow Benford’s Law</a:t>
            </a:r>
          </a:p>
          <a:p>
            <a:pPr marL="0" indent="0">
              <a:buNone/>
            </a:pPr>
            <a:endParaRPr lang="en-US" dirty="0">
              <a:solidFill>
                <a:srgbClr val="555555"/>
              </a:solidFill>
              <a:latin typeface="Calibri" panose="020F0502020204030204" pitchFamily="34" charset="0"/>
              <a:cs typeface="Calibri" panose="020F0502020204030204" pitchFamily="34" charset="0"/>
            </a:endParaRPr>
          </a:p>
        </p:txBody>
      </p:sp>
      <p:cxnSp>
        <p:nvCxnSpPr>
          <p:cNvPr id="8" name="Straight Connector 7">
            <a:extLst>
              <a:ext uri="{FF2B5EF4-FFF2-40B4-BE49-F238E27FC236}">
                <a16:creationId xmlns:a16="http://schemas.microsoft.com/office/drawing/2014/main" id="{47BABF2B-F3B2-FCFC-386B-ECAFA776607F}"/>
              </a:ext>
            </a:extLst>
          </p:cNvPr>
          <p:cNvCxnSpPr>
            <a:cxnSpLocks/>
          </p:cNvCxnSpPr>
          <p:nvPr/>
        </p:nvCxnSpPr>
        <p:spPr>
          <a:xfrm>
            <a:off x="244929" y="3836025"/>
            <a:ext cx="5290457" cy="0"/>
          </a:xfrm>
          <a:prstGeom prst="line">
            <a:avLst/>
          </a:prstGeom>
          <a:ln w="22225">
            <a:solidFill>
              <a:schemeClr val="accent1">
                <a:alpha val="65000"/>
              </a:schemeClr>
            </a:solidFill>
          </a:ln>
        </p:spPr>
        <p:style>
          <a:lnRef idx="2">
            <a:schemeClr val="accent1"/>
          </a:lnRef>
          <a:fillRef idx="0">
            <a:schemeClr val="accent1"/>
          </a:fillRef>
          <a:effectRef idx="1">
            <a:schemeClr val="accent1"/>
          </a:effectRef>
          <a:fontRef idx="minor">
            <a:schemeClr val="tx1"/>
          </a:fontRef>
        </p:style>
      </p:cxnSp>
      <p:sp>
        <p:nvSpPr>
          <p:cNvPr id="6" name="Content Placeholder 5">
            <a:extLst>
              <a:ext uri="{FF2B5EF4-FFF2-40B4-BE49-F238E27FC236}">
                <a16:creationId xmlns:a16="http://schemas.microsoft.com/office/drawing/2014/main" id="{59926A8A-85B5-5534-15C7-B854D1D6541B}"/>
              </a:ext>
            </a:extLst>
          </p:cNvPr>
          <p:cNvSpPr>
            <a:spLocks noGrp="1"/>
          </p:cNvSpPr>
          <p:nvPr>
            <p:ph sz="half" idx="2"/>
          </p:nvPr>
        </p:nvSpPr>
        <p:spPr>
          <a:xfrm>
            <a:off x="642256" y="4498414"/>
            <a:ext cx="8860973" cy="1570715"/>
          </a:xfrm>
        </p:spPr>
        <p:txBody>
          <a:bodyPr>
            <a:normAutofit/>
          </a:bodyPr>
          <a:lstStyle/>
          <a:p>
            <a:pPr marL="0" indent="0">
              <a:buNone/>
            </a:pPr>
            <a:r>
              <a:rPr lang="en-US" dirty="0">
                <a:solidFill>
                  <a:srgbClr val="555555"/>
                </a:solidFill>
                <a:latin typeface="Calibri" panose="020F0502020204030204" pitchFamily="34" charset="0"/>
                <a:cs typeface="Calibri" panose="020F0502020204030204" pitchFamily="34" charset="0"/>
              </a:rPr>
              <a:t>Hypothesis: Companies with unusual revenue or expenses fluctuations are more likely to face SEC enforcement actions.</a:t>
            </a:r>
          </a:p>
          <a:p>
            <a:pPr marL="0" indent="0">
              <a:buNone/>
            </a:pPr>
            <a:endParaRPr lang="en-US" dirty="0"/>
          </a:p>
        </p:txBody>
      </p:sp>
    </p:spTree>
    <p:extLst>
      <p:ext uri="{BB962C8B-B14F-4D97-AF65-F5344CB8AC3E}">
        <p14:creationId xmlns:p14="http://schemas.microsoft.com/office/powerpoint/2010/main" val="314587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7F1AFC-DA96-761A-AA50-CBE98268E2C6}"/>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Data Processing</a:t>
            </a:r>
          </a:p>
        </p:txBody>
      </p:sp>
      <p:sp>
        <p:nvSpPr>
          <p:cNvPr id="5" name="Content Placeholder 4">
            <a:extLst>
              <a:ext uri="{FF2B5EF4-FFF2-40B4-BE49-F238E27FC236}">
                <a16:creationId xmlns:a16="http://schemas.microsoft.com/office/drawing/2014/main" id="{8EC5C46D-2872-B741-B5B7-CEFF61B88120}"/>
              </a:ext>
            </a:extLst>
          </p:cNvPr>
          <p:cNvSpPr>
            <a:spLocks noGrp="1"/>
          </p:cNvSpPr>
          <p:nvPr>
            <p:ph idx="1"/>
          </p:nvPr>
        </p:nvSpPr>
        <p:spPr/>
        <p:txBody>
          <a:bodyPr>
            <a:normAutofit lnSpcReduction="10000"/>
          </a:bodyPr>
          <a:lstStyle/>
          <a:p>
            <a:pPr marL="0" indent="0">
              <a:buNone/>
            </a:pPr>
            <a:r>
              <a:rPr lang="en-US">
                <a:solidFill>
                  <a:srgbClr val="555555"/>
                </a:solidFill>
                <a:latin typeface="Calibri" panose="020F0502020204030204" pitchFamily="34" charset="0"/>
                <a:cs typeface="Calibri" panose="020F0502020204030204" pitchFamily="34" charset="0"/>
              </a:rPr>
              <a:t>To prepare the data for analysis, we:</a:t>
            </a:r>
          </a:p>
          <a:p>
            <a:pPr marL="0" indent="0">
              <a:buNone/>
            </a:pPr>
            <a:endParaRPr lang="en-US">
              <a:solidFill>
                <a:srgbClr val="555555"/>
              </a:solidFill>
              <a:latin typeface="Calibri" panose="020F0502020204030204" pitchFamily="34" charset="0"/>
              <a:cs typeface="Calibri" panose="020F0502020204030204" pitchFamily="34" charset="0"/>
            </a:endParaRPr>
          </a:p>
          <a:p>
            <a:r>
              <a:rPr lang="en-US">
                <a:solidFill>
                  <a:srgbClr val="555555"/>
                </a:solidFill>
                <a:latin typeface="Calibri" panose="020F0502020204030204" pitchFamily="34" charset="0"/>
                <a:cs typeface="Calibri" panose="020F0502020204030204" pitchFamily="34" charset="0"/>
              </a:rPr>
              <a:t>Downloaded and unzipped multiple SEC quarterly datasets</a:t>
            </a:r>
          </a:p>
          <a:p>
            <a:r>
              <a:rPr lang="en-US">
                <a:solidFill>
                  <a:srgbClr val="555555"/>
                </a:solidFill>
                <a:latin typeface="Calibri" panose="020F0502020204030204" pitchFamily="34" charset="0"/>
                <a:cs typeface="Calibri" panose="020F0502020204030204" pitchFamily="34" charset="0"/>
              </a:rPr>
              <a:t>Merged financial data (</a:t>
            </a:r>
            <a:r>
              <a:rPr lang="en-US" err="1">
                <a:solidFill>
                  <a:srgbClr val="555555"/>
                </a:solidFill>
                <a:latin typeface="Calibri" panose="020F0502020204030204" pitchFamily="34" charset="0"/>
                <a:cs typeface="Calibri" panose="020F0502020204030204" pitchFamily="34" charset="0"/>
              </a:rPr>
              <a:t>num.txt</a:t>
            </a:r>
            <a:r>
              <a:rPr lang="en-US">
                <a:solidFill>
                  <a:srgbClr val="555555"/>
                </a:solidFill>
                <a:latin typeface="Calibri" panose="020F0502020204030204" pitchFamily="34" charset="0"/>
                <a:cs typeface="Calibri" panose="020F0502020204030204" pitchFamily="34" charset="0"/>
              </a:rPr>
              <a:t>) with company details (</a:t>
            </a:r>
            <a:r>
              <a:rPr lang="en-US" err="1">
                <a:solidFill>
                  <a:srgbClr val="555555"/>
                </a:solidFill>
                <a:latin typeface="Calibri" panose="020F0502020204030204" pitchFamily="34" charset="0"/>
                <a:cs typeface="Calibri" panose="020F0502020204030204" pitchFamily="34" charset="0"/>
              </a:rPr>
              <a:t>sub.txt</a:t>
            </a:r>
            <a:r>
              <a:rPr lang="en-US">
                <a:solidFill>
                  <a:srgbClr val="555555"/>
                </a:solidFill>
                <a:latin typeface="Calibri" panose="020F0502020204030204" pitchFamily="34" charset="0"/>
                <a:cs typeface="Calibri" panose="020F0502020204030204" pitchFamily="34" charset="0"/>
              </a:rPr>
              <a:t>)</a:t>
            </a:r>
          </a:p>
          <a:p>
            <a:r>
              <a:rPr lang="en-US">
                <a:solidFill>
                  <a:srgbClr val="555555"/>
                </a:solidFill>
                <a:latin typeface="Calibri" panose="020F0502020204030204" pitchFamily="34" charset="0"/>
                <a:cs typeface="Calibri" panose="020F0502020204030204" pitchFamily="34" charset="0"/>
              </a:rPr>
              <a:t>Removed missing, negative, and non-USD entries </a:t>
            </a:r>
          </a:p>
          <a:p>
            <a:r>
              <a:rPr lang="en-US">
                <a:solidFill>
                  <a:srgbClr val="555555"/>
                </a:solidFill>
                <a:latin typeface="Calibri" panose="020F0502020204030204" pitchFamily="34" charset="0"/>
                <a:cs typeface="Calibri" panose="020F0502020204030204" pitchFamily="34" charset="0"/>
              </a:rPr>
              <a:t>Focused on key variables like revenue and expenses </a:t>
            </a:r>
          </a:p>
          <a:p>
            <a:endParaRPr lang="en-US">
              <a:solidFill>
                <a:srgbClr val="555555"/>
              </a:solidFill>
              <a:latin typeface="Calibri" panose="020F0502020204030204" pitchFamily="34" charset="0"/>
              <a:cs typeface="Calibri" panose="020F0502020204030204" pitchFamily="34" charset="0"/>
            </a:endParaRPr>
          </a:p>
          <a:p>
            <a:pPr marL="0" indent="0">
              <a:buNone/>
            </a:pPr>
            <a:r>
              <a:rPr lang="en-US">
                <a:solidFill>
                  <a:srgbClr val="555555"/>
                </a:solidFill>
                <a:latin typeface="Calibri" panose="020F0502020204030204" pitchFamily="34" charset="0"/>
                <a:cs typeface="Calibri" panose="020F0502020204030204" pitchFamily="34" charset="0"/>
              </a:rPr>
              <a:t>After cleanings, we had a single dataset ready for exploration and analysis. </a:t>
            </a:r>
          </a:p>
        </p:txBody>
      </p:sp>
    </p:spTree>
    <p:extLst>
      <p:ext uri="{BB962C8B-B14F-4D97-AF65-F5344CB8AC3E}">
        <p14:creationId xmlns:p14="http://schemas.microsoft.com/office/powerpoint/2010/main" val="174016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E2D625-7E6F-B9F7-F91F-8404324C48EC}"/>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Exploratory Data Analysis</a:t>
            </a:r>
          </a:p>
        </p:txBody>
      </p:sp>
      <p:sp>
        <p:nvSpPr>
          <p:cNvPr id="5" name="Content Placeholder 4">
            <a:extLst>
              <a:ext uri="{FF2B5EF4-FFF2-40B4-BE49-F238E27FC236}">
                <a16:creationId xmlns:a16="http://schemas.microsoft.com/office/drawing/2014/main" id="{721D0CB9-3118-FD45-36DC-DBAC71D2B296}"/>
              </a:ext>
            </a:extLst>
          </p:cNvPr>
          <p:cNvSpPr>
            <a:spLocks noGrp="1"/>
          </p:cNvSpPr>
          <p:nvPr>
            <p:ph sz="half" idx="1"/>
          </p:nvPr>
        </p:nvSpPr>
        <p:spPr>
          <a:xfrm>
            <a:off x="838200" y="1825625"/>
            <a:ext cx="5181600" cy="4667250"/>
          </a:xfrm>
        </p:spPr>
        <p:txBody>
          <a:bodyPr>
            <a:normAutofit fontScale="92500" lnSpcReduction="20000"/>
          </a:bodyPr>
          <a:lstStyle/>
          <a:p>
            <a:pPr marL="0" indent="0">
              <a:buNone/>
            </a:pPr>
            <a:r>
              <a:rPr lang="en-US" dirty="0">
                <a:solidFill>
                  <a:srgbClr val="555555"/>
                </a:solidFill>
                <a:latin typeface="Calibri" panose="020F0502020204030204" pitchFamily="34" charset="0"/>
                <a:cs typeface="Calibri" panose="020F0502020204030204" pitchFamily="34" charset="0"/>
              </a:rPr>
              <a:t>Before testing our hypotheses, we explored the data to understand overall patterns.</a:t>
            </a:r>
          </a:p>
          <a:p>
            <a:pPr marL="0" indent="0">
              <a:buNone/>
            </a:pPr>
            <a:r>
              <a:rPr lang="en-US" dirty="0">
                <a:solidFill>
                  <a:srgbClr val="555555"/>
                </a:solidFill>
                <a:latin typeface="Calibri" panose="020F0502020204030204" pitchFamily="34" charset="0"/>
                <a:cs typeface="Calibri" panose="020F0502020204030204" pitchFamily="34" charset="0"/>
              </a:rPr>
              <a:t>We:</a:t>
            </a:r>
          </a:p>
          <a:p>
            <a:r>
              <a:rPr lang="en-US" dirty="0">
                <a:solidFill>
                  <a:srgbClr val="555555"/>
                </a:solidFill>
                <a:latin typeface="Calibri" panose="020F0502020204030204" pitchFamily="34" charset="0"/>
                <a:cs typeface="Calibri" panose="020F0502020204030204" pitchFamily="34" charset="0"/>
              </a:rPr>
              <a:t>Created histograms to show overall distribution of revenue </a:t>
            </a:r>
          </a:p>
          <a:p>
            <a:r>
              <a:rPr lang="en-US" dirty="0">
                <a:solidFill>
                  <a:srgbClr val="555555"/>
                </a:solidFill>
                <a:latin typeface="Calibri" panose="020F0502020204030204" pitchFamily="34" charset="0"/>
                <a:cs typeface="Calibri" panose="020F0502020204030204" pitchFamily="34" charset="0"/>
              </a:rPr>
              <a:t>Made scatter plots comparing revenue and expenses</a:t>
            </a:r>
          </a:p>
          <a:p>
            <a:r>
              <a:rPr lang="en-US" dirty="0">
                <a:solidFill>
                  <a:srgbClr val="555555"/>
                </a:solidFill>
                <a:latin typeface="Calibri" panose="020F0502020204030204" pitchFamily="34" charset="0"/>
                <a:cs typeface="Calibri" panose="020F0502020204030204" pitchFamily="34" charset="0"/>
              </a:rPr>
              <a:t>Used boxplots to examine revenue across industries</a:t>
            </a:r>
          </a:p>
          <a:p>
            <a:pPr marL="0" indent="0">
              <a:buNone/>
            </a:pPr>
            <a:r>
              <a:rPr lang="en-US" dirty="0">
                <a:solidFill>
                  <a:srgbClr val="555555"/>
                </a:solidFill>
                <a:latin typeface="Calibri" panose="020F0502020204030204" pitchFamily="34" charset="0"/>
                <a:cs typeface="Calibri" panose="020F0502020204030204" pitchFamily="34" charset="0"/>
              </a:rPr>
              <a:t>Most </a:t>
            </a:r>
            <a:r>
              <a:rPr lang="en-US">
                <a:solidFill>
                  <a:srgbClr val="555555"/>
                </a:solidFill>
                <a:latin typeface="Calibri" panose="020F0502020204030204" pitchFamily="34" charset="0"/>
                <a:cs typeface="Calibri" panose="020F0502020204030204" pitchFamily="34" charset="0"/>
              </a:rPr>
              <a:t>companies were </a:t>
            </a:r>
            <a:r>
              <a:rPr lang="en-US" dirty="0">
                <a:solidFill>
                  <a:srgbClr val="555555"/>
                </a:solidFill>
                <a:latin typeface="Calibri" panose="020F0502020204030204" pitchFamily="34" charset="0"/>
                <a:cs typeface="Calibri" panose="020F0502020204030204" pitchFamily="34" charset="0"/>
              </a:rPr>
              <a:t>consistent, but some had large variations worth deeper analysis. </a:t>
            </a:r>
          </a:p>
        </p:txBody>
      </p:sp>
      <p:pic>
        <p:nvPicPr>
          <p:cNvPr id="9" name="Content Placeholder 8" descr="A graph with a line&#10;&#10;AI-generated content may be incorrect.">
            <a:extLst>
              <a:ext uri="{FF2B5EF4-FFF2-40B4-BE49-F238E27FC236}">
                <a16:creationId xmlns:a16="http://schemas.microsoft.com/office/drawing/2014/main" id="{D5A17AF1-A26F-018A-083D-2EC4DA49C8F6}"/>
              </a:ext>
            </a:extLst>
          </p:cNvPr>
          <p:cNvPicPr>
            <a:picLocks noGrp="1" noChangeAspect="1"/>
          </p:cNvPicPr>
          <p:nvPr>
            <p:ph sz="half" idx="2"/>
          </p:nvPr>
        </p:nvPicPr>
        <p:blipFill>
          <a:blip r:embed="rId2"/>
          <a:stretch>
            <a:fillRect/>
          </a:stretch>
        </p:blipFill>
        <p:spPr>
          <a:xfrm>
            <a:off x="6096000" y="2133600"/>
            <a:ext cx="5181600" cy="2590800"/>
          </a:xfrm>
        </p:spPr>
      </p:pic>
      <p:sp>
        <p:nvSpPr>
          <p:cNvPr id="10" name="TextBox 9">
            <a:extLst>
              <a:ext uri="{FF2B5EF4-FFF2-40B4-BE49-F238E27FC236}">
                <a16:creationId xmlns:a16="http://schemas.microsoft.com/office/drawing/2014/main" id="{FCB439D5-946D-9D84-E6B2-1BBCB5E226BB}"/>
              </a:ext>
            </a:extLst>
          </p:cNvPr>
          <p:cNvSpPr txBox="1"/>
          <p:nvPr/>
        </p:nvSpPr>
        <p:spPr>
          <a:xfrm>
            <a:off x="6548717" y="4724400"/>
            <a:ext cx="4276165" cy="646331"/>
          </a:xfrm>
          <a:prstGeom prst="rect">
            <a:avLst/>
          </a:prstGeom>
          <a:noFill/>
        </p:spPr>
        <p:txBody>
          <a:bodyPr wrap="square" rtlCol="0">
            <a:spAutoFit/>
          </a:bodyPr>
          <a:lstStyle/>
          <a:p>
            <a:pPr algn="ctr"/>
            <a:r>
              <a:rPr lang="en-US">
                <a:solidFill>
                  <a:srgbClr val="555555"/>
                </a:solidFill>
                <a:latin typeface="Calibri" panose="020F0502020204030204" pitchFamily="34" charset="0"/>
                <a:cs typeface="Calibri" panose="020F0502020204030204" pitchFamily="34" charset="0"/>
              </a:rPr>
              <a:t>Log-scaled distribution of company revenue values showing overall data spread.</a:t>
            </a:r>
          </a:p>
        </p:txBody>
      </p:sp>
    </p:spTree>
    <p:extLst>
      <p:ext uri="{BB962C8B-B14F-4D97-AF65-F5344CB8AC3E}">
        <p14:creationId xmlns:p14="http://schemas.microsoft.com/office/powerpoint/2010/main" val="62028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98125-8028-61B2-AD77-E830A4A90C9E}"/>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Exploratory Data Analysis: Industry Patterns</a:t>
            </a:r>
          </a:p>
        </p:txBody>
      </p:sp>
      <p:pic>
        <p:nvPicPr>
          <p:cNvPr id="9" name="Content Placeholder 8" descr="A diagram of a diagram with blue dots&#10;&#10;AI-generated content may be incorrect.">
            <a:extLst>
              <a:ext uri="{FF2B5EF4-FFF2-40B4-BE49-F238E27FC236}">
                <a16:creationId xmlns:a16="http://schemas.microsoft.com/office/drawing/2014/main" id="{2D5E190B-65A5-25C5-BB24-DD3874F1F495}"/>
              </a:ext>
            </a:extLst>
          </p:cNvPr>
          <p:cNvPicPr>
            <a:picLocks noGrp="1" noChangeAspect="1"/>
          </p:cNvPicPr>
          <p:nvPr>
            <p:ph sz="half" idx="2"/>
          </p:nvPr>
        </p:nvPicPr>
        <p:blipFill>
          <a:blip r:embed="rId2"/>
          <a:stretch>
            <a:fillRect/>
          </a:stretch>
        </p:blipFill>
        <p:spPr>
          <a:xfrm>
            <a:off x="839787" y="2235942"/>
            <a:ext cx="4642922" cy="3482191"/>
          </a:xfrm>
        </p:spPr>
      </p:pic>
      <p:sp>
        <p:nvSpPr>
          <p:cNvPr id="7" name="TextBox 6">
            <a:extLst>
              <a:ext uri="{FF2B5EF4-FFF2-40B4-BE49-F238E27FC236}">
                <a16:creationId xmlns:a16="http://schemas.microsoft.com/office/drawing/2014/main" id="{88CCF343-58C8-57D5-471A-A1164E008B09}"/>
              </a:ext>
            </a:extLst>
          </p:cNvPr>
          <p:cNvSpPr txBox="1"/>
          <p:nvPr/>
        </p:nvSpPr>
        <p:spPr>
          <a:xfrm>
            <a:off x="6096000" y="5885311"/>
            <a:ext cx="4455695" cy="923330"/>
          </a:xfrm>
          <a:prstGeom prst="rect">
            <a:avLst/>
          </a:prstGeom>
          <a:noFill/>
        </p:spPr>
        <p:txBody>
          <a:bodyPr wrap="square" rtlCol="0">
            <a:spAutoFit/>
          </a:bodyPr>
          <a:lstStyle/>
          <a:p>
            <a:pPr algn="ctr"/>
            <a:r>
              <a:rPr lang="en-US">
                <a:solidFill>
                  <a:srgbClr val="555555"/>
                </a:solidFill>
                <a:latin typeface="Calibri" panose="020F0502020204030204" pitchFamily="34" charset="0"/>
                <a:cs typeface="Calibri" panose="020F0502020204030204" pitchFamily="34" charset="0"/>
              </a:rPr>
              <a:t>Revenue distribution across industries, illustrating variance and potential reporting inconsistencies.</a:t>
            </a:r>
          </a:p>
        </p:txBody>
      </p:sp>
      <p:sp>
        <p:nvSpPr>
          <p:cNvPr id="10" name="TextBox 9">
            <a:extLst>
              <a:ext uri="{FF2B5EF4-FFF2-40B4-BE49-F238E27FC236}">
                <a16:creationId xmlns:a16="http://schemas.microsoft.com/office/drawing/2014/main" id="{2825BF14-5F32-F170-567D-6B989C4FCFCC}"/>
              </a:ext>
            </a:extLst>
          </p:cNvPr>
          <p:cNvSpPr txBox="1"/>
          <p:nvPr/>
        </p:nvSpPr>
        <p:spPr>
          <a:xfrm>
            <a:off x="1330756" y="6023811"/>
            <a:ext cx="3737811" cy="646331"/>
          </a:xfrm>
          <a:prstGeom prst="rect">
            <a:avLst/>
          </a:prstGeom>
          <a:noFill/>
        </p:spPr>
        <p:txBody>
          <a:bodyPr wrap="square" rtlCol="0">
            <a:spAutoFit/>
          </a:bodyPr>
          <a:lstStyle/>
          <a:p>
            <a:pPr algn="ctr"/>
            <a:r>
              <a:rPr lang="en-US">
                <a:solidFill>
                  <a:srgbClr val="555555"/>
                </a:solidFill>
                <a:latin typeface="Calibri" panose="020F0502020204030204" pitchFamily="34" charset="0"/>
                <a:cs typeface="Calibri" panose="020F0502020204030204" pitchFamily="34" charset="0"/>
              </a:rPr>
              <a:t>Correlation between Revenue and Operating Expenses.</a:t>
            </a:r>
          </a:p>
        </p:txBody>
      </p:sp>
      <p:sp>
        <p:nvSpPr>
          <p:cNvPr id="15" name="TextBox 14">
            <a:extLst>
              <a:ext uri="{FF2B5EF4-FFF2-40B4-BE49-F238E27FC236}">
                <a16:creationId xmlns:a16="http://schemas.microsoft.com/office/drawing/2014/main" id="{7498E890-9817-CB97-D156-D05C355A4B65}"/>
              </a:ext>
            </a:extLst>
          </p:cNvPr>
          <p:cNvSpPr txBox="1"/>
          <p:nvPr/>
        </p:nvSpPr>
        <p:spPr>
          <a:xfrm>
            <a:off x="926382" y="1402847"/>
            <a:ext cx="9112655" cy="707886"/>
          </a:xfrm>
          <a:prstGeom prst="rect">
            <a:avLst/>
          </a:prstGeom>
          <a:noFill/>
        </p:spPr>
        <p:txBody>
          <a:bodyPr wrap="square" rtlCol="0">
            <a:spAutoFit/>
          </a:bodyPr>
          <a:lstStyle/>
          <a:p>
            <a:pPr marL="285750" indent="-285750">
              <a:buFont typeface="Arial" panose="020B0604020202020204" pitchFamily="34" charset="0"/>
              <a:buChar char="•"/>
            </a:pPr>
            <a:r>
              <a:rPr lang="en-US" sz="2000">
                <a:solidFill>
                  <a:srgbClr val="555555"/>
                </a:solidFill>
                <a:latin typeface="Calibri" panose="020F0502020204030204" pitchFamily="34" charset="0"/>
                <a:cs typeface="Calibri" panose="020F0502020204030204" pitchFamily="34" charset="0"/>
              </a:rPr>
              <a:t>Industry-level data shows wide variation in revenue values.</a:t>
            </a:r>
          </a:p>
          <a:p>
            <a:pPr marL="285750" indent="-285750">
              <a:buFont typeface="Arial" panose="020B0604020202020204" pitchFamily="34" charset="0"/>
              <a:buChar char="•"/>
            </a:pPr>
            <a:r>
              <a:rPr lang="en-US" sz="2000">
                <a:solidFill>
                  <a:srgbClr val="555555"/>
                </a:solidFill>
                <a:latin typeface="Calibri" panose="020F0502020204030204" pitchFamily="34" charset="0"/>
                <a:cs typeface="Calibri" panose="020F0502020204030204" pitchFamily="34" charset="0"/>
              </a:rPr>
              <a:t>Revenue and operating expenses display a general positive correlation across firms. </a:t>
            </a:r>
          </a:p>
        </p:txBody>
      </p:sp>
      <p:pic>
        <p:nvPicPr>
          <p:cNvPr id="8" name="Picture 7" descr="A graph showing a number of blue squares&#10;&#10;AI-generated content may be incorrect.">
            <a:extLst>
              <a:ext uri="{FF2B5EF4-FFF2-40B4-BE49-F238E27FC236}">
                <a16:creationId xmlns:a16="http://schemas.microsoft.com/office/drawing/2014/main" id="{A191DD8F-45ED-D4EC-80A3-997295296FBE}"/>
              </a:ext>
            </a:extLst>
          </p:cNvPr>
          <p:cNvPicPr>
            <a:picLocks noChangeAspect="1"/>
          </p:cNvPicPr>
          <p:nvPr/>
        </p:nvPicPr>
        <p:blipFill>
          <a:blip r:embed="rId3"/>
          <a:stretch>
            <a:fillRect/>
          </a:stretch>
        </p:blipFill>
        <p:spPr>
          <a:xfrm>
            <a:off x="6510142" y="2252916"/>
            <a:ext cx="3243457" cy="3632395"/>
          </a:xfrm>
          <a:prstGeom prst="rect">
            <a:avLst/>
          </a:prstGeom>
        </p:spPr>
      </p:pic>
    </p:spTree>
    <p:extLst>
      <p:ext uri="{BB962C8B-B14F-4D97-AF65-F5344CB8AC3E}">
        <p14:creationId xmlns:p14="http://schemas.microsoft.com/office/powerpoint/2010/main" val="3223225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243512-ABD6-CBFA-BF69-EA90E25B7BD6}"/>
              </a:ext>
            </a:extLst>
          </p:cNvPr>
          <p:cNvSpPr>
            <a:spLocks noGrp="1"/>
          </p:cNvSpPr>
          <p:nvPr>
            <p:ph type="title"/>
          </p:nvPr>
        </p:nvSpPr>
        <p:spPr>
          <a:xfrm>
            <a:off x="838200" y="283482"/>
            <a:ext cx="10515600" cy="1325563"/>
          </a:xfrm>
        </p:spPr>
        <p:txBody>
          <a:bodyPr/>
          <a:lstStyle/>
          <a:p>
            <a:r>
              <a:rPr lang="en-US">
                <a:solidFill>
                  <a:srgbClr val="274472"/>
                </a:solidFill>
                <a:latin typeface="Calibri" panose="020F0502020204030204" pitchFamily="34" charset="0"/>
                <a:cs typeface="Calibri" panose="020F0502020204030204" pitchFamily="34" charset="0"/>
              </a:rPr>
              <a:t>Benford’s Law Analysis</a:t>
            </a:r>
          </a:p>
        </p:txBody>
      </p:sp>
      <p:sp>
        <p:nvSpPr>
          <p:cNvPr id="5" name="Content Placeholder 4">
            <a:extLst>
              <a:ext uri="{FF2B5EF4-FFF2-40B4-BE49-F238E27FC236}">
                <a16:creationId xmlns:a16="http://schemas.microsoft.com/office/drawing/2014/main" id="{68AC5B08-4749-FAE4-AF56-D0DED533F0B9}"/>
              </a:ext>
            </a:extLst>
          </p:cNvPr>
          <p:cNvSpPr>
            <a:spLocks noGrp="1"/>
          </p:cNvSpPr>
          <p:nvPr>
            <p:ph idx="1"/>
          </p:nvPr>
        </p:nvSpPr>
        <p:spPr/>
        <p:txBody>
          <a:bodyPr>
            <a:normAutofit/>
          </a:bodyPr>
          <a:lstStyle/>
          <a:p>
            <a:pPr marL="0" indent="0">
              <a:buNone/>
            </a:pPr>
            <a:r>
              <a:rPr lang="en-US">
                <a:solidFill>
                  <a:srgbClr val="555555"/>
                </a:solidFill>
                <a:latin typeface="Calibri" panose="020F0502020204030204" pitchFamily="34" charset="0"/>
                <a:cs typeface="Calibri" panose="020F0502020204030204" pitchFamily="34" charset="0"/>
              </a:rPr>
              <a:t>We extracted the first digit of each revenue value and compared it to the expected Benford distribution.</a:t>
            </a:r>
          </a:p>
          <a:p>
            <a:pPr marL="0" indent="0">
              <a:buNone/>
            </a:pPr>
            <a:r>
              <a:rPr lang="en-US">
                <a:solidFill>
                  <a:srgbClr val="555555"/>
                </a:solidFill>
                <a:latin typeface="Calibri" panose="020F0502020204030204" pitchFamily="34" charset="0"/>
                <a:cs typeface="Calibri" panose="020F0502020204030204" pitchFamily="34" charset="0"/>
              </a:rPr>
              <a:t>Then we ran Chi-square tests to measure how closely each company followed the law. </a:t>
            </a:r>
          </a:p>
          <a:p>
            <a:pPr marL="0" indent="0">
              <a:buNone/>
            </a:pPr>
            <a:r>
              <a:rPr lang="en-US" b="1">
                <a:solidFill>
                  <a:srgbClr val="555555"/>
                </a:solidFill>
                <a:latin typeface="Calibri" panose="020F0502020204030204" pitchFamily="34" charset="0"/>
                <a:cs typeface="Calibri" panose="020F0502020204030204" pitchFamily="34" charset="0"/>
              </a:rPr>
              <a:t>Findings</a:t>
            </a:r>
            <a:r>
              <a:rPr lang="en-US">
                <a:solidFill>
                  <a:srgbClr val="555555"/>
                </a:solidFill>
                <a:latin typeface="Calibri" panose="020F0502020204030204" pitchFamily="34" charset="0"/>
                <a:cs typeface="Calibri" panose="020F0502020204030204" pitchFamily="34" charset="0"/>
              </a:rPr>
              <a:t>: </a:t>
            </a:r>
          </a:p>
          <a:p>
            <a:pPr marL="0" indent="0">
              <a:buNone/>
            </a:pPr>
            <a:r>
              <a:rPr lang="en-US">
                <a:solidFill>
                  <a:srgbClr val="555555"/>
                </a:solidFill>
                <a:latin typeface="Calibri" panose="020F0502020204030204" pitchFamily="34" charset="0"/>
                <a:cs typeface="Calibri" panose="020F0502020204030204" pitchFamily="34" charset="0"/>
              </a:rPr>
              <a:t>Most companies fit the expected pattern, but some deviated significantly, potential red flags or irregular reporting. </a:t>
            </a:r>
          </a:p>
        </p:txBody>
      </p:sp>
    </p:spTree>
    <p:extLst>
      <p:ext uri="{BB962C8B-B14F-4D97-AF65-F5344CB8AC3E}">
        <p14:creationId xmlns:p14="http://schemas.microsoft.com/office/powerpoint/2010/main" val="4056586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73CFD0-8EC5-2166-F36D-5D9DB02D241C}"/>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Company-Level Benford Comparisons </a:t>
            </a:r>
          </a:p>
        </p:txBody>
      </p:sp>
      <p:sp>
        <p:nvSpPr>
          <p:cNvPr id="7" name="Text Placeholder 6">
            <a:extLst>
              <a:ext uri="{FF2B5EF4-FFF2-40B4-BE49-F238E27FC236}">
                <a16:creationId xmlns:a16="http://schemas.microsoft.com/office/drawing/2014/main" id="{A39939C1-0410-82D5-EE1C-1BCD6C430DAA}"/>
              </a:ext>
            </a:extLst>
          </p:cNvPr>
          <p:cNvSpPr>
            <a:spLocks noGrp="1"/>
          </p:cNvSpPr>
          <p:nvPr>
            <p:ph type="body" sz="quarter" idx="3"/>
          </p:nvPr>
        </p:nvSpPr>
        <p:spPr>
          <a:xfrm>
            <a:off x="6184903" y="5221152"/>
            <a:ext cx="5183188" cy="823912"/>
          </a:xfrm>
        </p:spPr>
        <p:txBody>
          <a:bodyPr>
            <a:normAutofit fontScale="92500" lnSpcReduction="20000"/>
          </a:bodyPr>
          <a:lstStyle/>
          <a:p>
            <a:pPr algn="ctr"/>
            <a:r>
              <a:rPr lang="en-US" b="0">
                <a:solidFill>
                  <a:srgbClr val="555555"/>
                </a:solidFill>
                <a:latin typeface="Calibri" panose="020F0502020204030204" pitchFamily="34" charset="0"/>
                <a:cs typeface="Calibri" panose="020F0502020204030204" pitchFamily="34" charset="0"/>
              </a:rPr>
              <a:t>This is a company called Core Laboratories, Inc. that was investigated by the SEC.</a:t>
            </a:r>
          </a:p>
        </p:txBody>
      </p:sp>
      <p:sp>
        <p:nvSpPr>
          <p:cNvPr id="5" name="Text Placeholder 4">
            <a:extLst>
              <a:ext uri="{FF2B5EF4-FFF2-40B4-BE49-F238E27FC236}">
                <a16:creationId xmlns:a16="http://schemas.microsoft.com/office/drawing/2014/main" id="{969E581E-9649-1E8B-EC31-6AC5B5B26F92}"/>
              </a:ext>
            </a:extLst>
          </p:cNvPr>
          <p:cNvSpPr>
            <a:spLocks noGrp="1"/>
          </p:cNvSpPr>
          <p:nvPr>
            <p:ph type="body" idx="1"/>
          </p:nvPr>
        </p:nvSpPr>
        <p:spPr>
          <a:xfrm>
            <a:off x="714110" y="5365751"/>
            <a:ext cx="5157787" cy="823912"/>
          </a:xfrm>
        </p:spPr>
        <p:txBody>
          <a:bodyPr>
            <a:normAutofit fontScale="92500" lnSpcReduction="20000"/>
          </a:bodyPr>
          <a:lstStyle/>
          <a:p>
            <a:pPr algn="ctr"/>
            <a:r>
              <a:rPr lang="en-US" b="0">
                <a:solidFill>
                  <a:srgbClr val="555555"/>
                </a:solidFill>
                <a:latin typeface="Calibri" panose="020F0502020204030204" pitchFamily="34" charset="0"/>
                <a:cs typeface="Calibri" panose="020F0502020204030204" pitchFamily="34" charset="0"/>
              </a:rPr>
              <a:t>Aggregate comparison of actual vs. expected first-digit frequencies following Benford’s Law.</a:t>
            </a:r>
          </a:p>
        </p:txBody>
      </p:sp>
      <p:pic>
        <p:nvPicPr>
          <p:cNvPr id="10" name="Content Placeholder 9" descr="A graph of a bar chart&#10;&#10;AI-generated content may be incorrect.">
            <a:extLst>
              <a:ext uri="{FF2B5EF4-FFF2-40B4-BE49-F238E27FC236}">
                <a16:creationId xmlns:a16="http://schemas.microsoft.com/office/drawing/2014/main" id="{18D0CED7-E6A0-1D06-8C3D-030B65655597}"/>
              </a:ext>
            </a:extLst>
          </p:cNvPr>
          <p:cNvPicPr>
            <a:picLocks noGrp="1" noChangeAspect="1"/>
          </p:cNvPicPr>
          <p:nvPr>
            <p:ph sz="half" idx="2"/>
          </p:nvPr>
        </p:nvPicPr>
        <p:blipFill>
          <a:blip r:embed="rId3"/>
          <a:stretch>
            <a:fillRect/>
          </a:stretch>
        </p:blipFill>
        <p:spPr>
          <a:xfrm>
            <a:off x="836612" y="1694610"/>
            <a:ext cx="4912784" cy="3684588"/>
          </a:xfrm>
        </p:spPr>
      </p:pic>
      <p:pic>
        <p:nvPicPr>
          <p:cNvPr id="8" name="Content Placeholder 7" descr="A graph with a red dotted line&#10;&#10;AI-generated content may be incorrect.">
            <a:extLst>
              <a:ext uri="{FF2B5EF4-FFF2-40B4-BE49-F238E27FC236}">
                <a16:creationId xmlns:a16="http://schemas.microsoft.com/office/drawing/2014/main" id="{544EA149-F29C-AA30-18BC-5DFD03B1789C}"/>
              </a:ext>
            </a:extLst>
          </p:cNvPr>
          <p:cNvPicPr>
            <a:picLocks noGrp="1" noChangeAspect="1"/>
          </p:cNvPicPr>
          <p:nvPr>
            <p:ph sz="quarter" idx="4"/>
          </p:nvPr>
        </p:nvPicPr>
        <p:blipFill>
          <a:blip r:embed="rId4"/>
          <a:stretch>
            <a:fillRect/>
          </a:stretch>
        </p:blipFill>
        <p:spPr>
          <a:xfrm>
            <a:off x="6320105" y="1586706"/>
            <a:ext cx="4912784" cy="3684588"/>
          </a:xfrm>
        </p:spPr>
      </p:pic>
    </p:spTree>
    <p:extLst>
      <p:ext uri="{BB962C8B-B14F-4D97-AF65-F5344CB8AC3E}">
        <p14:creationId xmlns:p14="http://schemas.microsoft.com/office/powerpoint/2010/main" val="1409980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15D2F3-1A9A-7A7E-CEBC-9733C94973DE}"/>
              </a:ext>
            </a:extLst>
          </p:cNvPr>
          <p:cNvSpPr>
            <a:spLocks noGrp="1"/>
          </p:cNvSpPr>
          <p:nvPr>
            <p:ph type="title"/>
          </p:nvPr>
        </p:nvSpPr>
        <p:spPr>
          <a:xfrm>
            <a:off x="665630" y="137674"/>
            <a:ext cx="10515600" cy="1267620"/>
          </a:xfrm>
        </p:spPr>
        <p:txBody>
          <a:bodyPr>
            <a:normAutofit fontScale="90000"/>
          </a:bodyPr>
          <a:lstStyle/>
          <a:p>
            <a:r>
              <a:rPr lang="en-US">
                <a:solidFill>
                  <a:srgbClr val="274472"/>
                </a:solidFill>
                <a:latin typeface="Calibri" panose="020F0502020204030204" pitchFamily="34" charset="0"/>
                <a:cs typeface="Calibri" panose="020F0502020204030204" pitchFamily="34" charset="0"/>
              </a:rPr>
              <a:t>Statistical Test Results and Hypothesis Outcomes </a:t>
            </a:r>
          </a:p>
        </p:txBody>
      </p:sp>
      <p:graphicFrame>
        <p:nvGraphicFramePr>
          <p:cNvPr id="10" name="Content Placeholder 9">
            <a:extLst>
              <a:ext uri="{FF2B5EF4-FFF2-40B4-BE49-F238E27FC236}">
                <a16:creationId xmlns:a16="http://schemas.microsoft.com/office/drawing/2014/main" id="{FA37D647-C2AF-0DCE-19F4-AC3EF81C1E67}"/>
              </a:ext>
            </a:extLst>
          </p:cNvPr>
          <p:cNvGraphicFramePr>
            <a:graphicFrameLocks noGrp="1"/>
          </p:cNvGraphicFramePr>
          <p:nvPr>
            <p:ph idx="1"/>
            <p:extLst>
              <p:ext uri="{D42A27DB-BD31-4B8C-83A1-F6EECF244321}">
                <p14:modId xmlns:p14="http://schemas.microsoft.com/office/powerpoint/2010/main" val="3621744031"/>
              </p:ext>
            </p:extLst>
          </p:nvPr>
        </p:nvGraphicFramePr>
        <p:xfrm>
          <a:off x="838200" y="1405294"/>
          <a:ext cx="10170460" cy="3831710"/>
        </p:xfrm>
        <a:graphic>
          <a:graphicData uri="http://schemas.openxmlformats.org/drawingml/2006/table">
            <a:tbl>
              <a:tblPr firstRow="1" bandRow="1">
                <a:tableStyleId>{5C22544A-7EE6-4342-B048-85BDC9FD1C3A}</a:tableStyleId>
              </a:tblPr>
              <a:tblGrid>
                <a:gridCol w="2542615">
                  <a:extLst>
                    <a:ext uri="{9D8B030D-6E8A-4147-A177-3AD203B41FA5}">
                      <a16:colId xmlns:a16="http://schemas.microsoft.com/office/drawing/2014/main" val="2766585589"/>
                    </a:ext>
                  </a:extLst>
                </a:gridCol>
                <a:gridCol w="2542615">
                  <a:extLst>
                    <a:ext uri="{9D8B030D-6E8A-4147-A177-3AD203B41FA5}">
                      <a16:colId xmlns:a16="http://schemas.microsoft.com/office/drawing/2014/main" val="373518114"/>
                    </a:ext>
                  </a:extLst>
                </a:gridCol>
                <a:gridCol w="2542615">
                  <a:extLst>
                    <a:ext uri="{9D8B030D-6E8A-4147-A177-3AD203B41FA5}">
                      <a16:colId xmlns:a16="http://schemas.microsoft.com/office/drawing/2014/main" val="2966472552"/>
                    </a:ext>
                  </a:extLst>
                </a:gridCol>
                <a:gridCol w="2542615">
                  <a:extLst>
                    <a:ext uri="{9D8B030D-6E8A-4147-A177-3AD203B41FA5}">
                      <a16:colId xmlns:a16="http://schemas.microsoft.com/office/drawing/2014/main" val="1312543310"/>
                    </a:ext>
                  </a:extLst>
                </a:gridCol>
              </a:tblGrid>
              <a:tr h="891180">
                <a:tc>
                  <a:txBody>
                    <a:bodyPr/>
                    <a:lstStyle/>
                    <a:p>
                      <a:r>
                        <a:rPr lang="en-US" b="1" i="0">
                          <a:ln>
                            <a:noFill/>
                          </a:ln>
                          <a:solidFill>
                            <a:srgbClr val="555555"/>
                          </a:solidFill>
                          <a:latin typeface="Calibri" panose="020F0502020204030204" pitchFamily="34" charset="0"/>
                          <a:cs typeface="Calibri" panose="020F0502020204030204" pitchFamily="34" charset="0"/>
                        </a:rPr>
                        <a:t>Hypothesis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6F3"/>
                    </a:solidFill>
                  </a:tcPr>
                </a:tc>
                <a:tc>
                  <a:txBody>
                    <a:bodyPr/>
                    <a:lstStyle/>
                    <a:p>
                      <a:r>
                        <a:rPr lang="en-US" b="1" i="0">
                          <a:ln>
                            <a:noFill/>
                          </a:ln>
                          <a:solidFill>
                            <a:srgbClr val="555555"/>
                          </a:solidFill>
                          <a:latin typeface="Calibri" panose="020F0502020204030204" pitchFamily="34" charset="0"/>
                          <a:cs typeface="Calibri" panose="020F0502020204030204" pitchFamily="34"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6F3"/>
                    </a:solidFill>
                  </a:tcPr>
                </a:tc>
                <a:tc>
                  <a:txBody>
                    <a:bodyPr/>
                    <a:lstStyle/>
                    <a:p>
                      <a:pPr algn="l"/>
                      <a:r>
                        <a:rPr lang="en-US" b="1" i="0">
                          <a:ln>
                            <a:noFill/>
                          </a:ln>
                          <a:solidFill>
                            <a:srgbClr val="555555"/>
                          </a:solidFill>
                          <a:latin typeface="Calibri" panose="020F0502020204030204" pitchFamily="34" charset="0"/>
                          <a:cs typeface="Calibri" panose="020F0502020204030204" pitchFamily="34" charset="0"/>
                        </a:rPr>
                        <a:t>P-Value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6F3"/>
                    </a:solidFill>
                  </a:tcPr>
                </a:tc>
                <a:tc>
                  <a:txBody>
                    <a:bodyPr/>
                    <a:lstStyle/>
                    <a:p>
                      <a:r>
                        <a:rPr lang="en-US" b="1" i="0">
                          <a:ln>
                            <a:noFill/>
                          </a:ln>
                          <a:solidFill>
                            <a:srgbClr val="555555"/>
                          </a:solidFill>
                          <a:latin typeface="Calibri" panose="020F0502020204030204" pitchFamily="34" charset="0"/>
                          <a:cs typeface="Calibri" panose="020F0502020204030204" pitchFamily="34" charset="0"/>
                        </a:rPr>
                        <a:t>Interpretation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DE6F3"/>
                    </a:solidFill>
                  </a:tcPr>
                </a:tc>
                <a:extLst>
                  <a:ext uri="{0D108BD9-81ED-4DB2-BD59-A6C34878D82A}">
                    <a16:rowId xmlns:a16="http://schemas.microsoft.com/office/drawing/2014/main" val="2971582791"/>
                  </a:ext>
                </a:extLst>
              </a:tr>
              <a:tr h="891180">
                <a:tc>
                  <a:txBody>
                    <a:bodyPr/>
                    <a:lstStyle/>
                    <a:p>
                      <a:r>
                        <a:rPr lang="en-US" b="0" i="0">
                          <a:ln>
                            <a:noFill/>
                          </a:ln>
                          <a:solidFill>
                            <a:srgbClr val="555555"/>
                          </a:solidFill>
                          <a:latin typeface="Calibri" panose="020F0502020204030204" pitchFamily="34" charset="0"/>
                          <a:cs typeface="Calibri" panose="020F0502020204030204" pitchFamily="34" charset="0"/>
                        </a:rPr>
                        <a:t>H1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More financial outliers in Benford-deviant companies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0.585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Not significant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6519967"/>
                  </a:ext>
                </a:extLst>
              </a:tr>
              <a:tr h="891180">
                <a:tc>
                  <a:txBody>
                    <a:bodyPr/>
                    <a:lstStyle/>
                    <a:p>
                      <a:r>
                        <a:rPr lang="en-US" b="0" i="0">
                          <a:ln>
                            <a:noFill/>
                          </a:ln>
                          <a:solidFill>
                            <a:srgbClr val="555555"/>
                          </a:solidFill>
                          <a:latin typeface="Calibri" panose="020F0502020204030204" pitchFamily="34" charset="0"/>
                          <a:cs typeface="Calibri" panose="020F0502020204030204" pitchFamily="34" charset="0"/>
                        </a:rPr>
                        <a:t>H2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Higher absolute z-scores in Benford-deviant companies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0.096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Weak evidence (marginal)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0552724"/>
                  </a:ext>
                </a:extLst>
              </a:tr>
              <a:tr h="1111730">
                <a:tc>
                  <a:txBody>
                    <a:bodyPr/>
                    <a:lstStyle/>
                    <a:p>
                      <a:r>
                        <a:rPr lang="en-US" b="0" i="0">
                          <a:ln>
                            <a:noFill/>
                          </a:ln>
                          <a:solidFill>
                            <a:srgbClr val="555555"/>
                          </a:solidFill>
                          <a:latin typeface="Calibri" panose="020F0502020204030204" pitchFamily="34" charset="0"/>
                          <a:cs typeface="Calibri" panose="020F0502020204030204" pitchFamily="34" charset="0"/>
                        </a:rPr>
                        <a:t>H3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Weaker revenue-expense  correlation in Benford-deviant companies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0.030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i="0">
                          <a:ln>
                            <a:noFill/>
                          </a:ln>
                          <a:solidFill>
                            <a:srgbClr val="555555"/>
                          </a:solidFill>
                          <a:latin typeface="Calibri" panose="020F0502020204030204" pitchFamily="34" charset="0"/>
                          <a:cs typeface="Calibri" panose="020F0502020204030204" pitchFamily="34" charset="0"/>
                        </a:rPr>
                        <a:t>Statistically significant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5264754"/>
                  </a:ext>
                </a:extLst>
              </a:tr>
            </a:tbl>
          </a:graphicData>
        </a:graphic>
      </p:graphicFrame>
      <p:sp>
        <p:nvSpPr>
          <p:cNvPr id="9" name="Text Placeholder 8">
            <a:extLst>
              <a:ext uri="{FF2B5EF4-FFF2-40B4-BE49-F238E27FC236}">
                <a16:creationId xmlns:a16="http://schemas.microsoft.com/office/drawing/2014/main" id="{0D5339D8-9B0D-D3A1-72C8-6CA4CF3355DD}"/>
              </a:ext>
            </a:extLst>
          </p:cNvPr>
          <p:cNvSpPr>
            <a:spLocks noGrp="1"/>
          </p:cNvSpPr>
          <p:nvPr>
            <p:ph type="body" sz="half" idx="4294967295"/>
          </p:nvPr>
        </p:nvSpPr>
        <p:spPr>
          <a:xfrm>
            <a:off x="246530" y="5452706"/>
            <a:ext cx="11353800" cy="1325563"/>
          </a:xfrm>
        </p:spPr>
        <p:txBody>
          <a:bodyPr>
            <a:normAutofit/>
          </a:bodyPr>
          <a:lstStyle/>
          <a:p>
            <a:pPr marL="0" indent="0" algn="ctr">
              <a:buNone/>
            </a:pPr>
            <a:r>
              <a:rPr lang="en-US" sz="2400">
                <a:solidFill>
                  <a:srgbClr val="555555"/>
                </a:solidFill>
                <a:latin typeface="Calibri" panose="020F0502020204030204" pitchFamily="34" charset="0"/>
                <a:cs typeface="Calibri" panose="020F0502020204030204" pitchFamily="34" charset="0"/>
              </a:rPr>
              <a:t>While most tests were not statistically significant, Hypothesis 3 showed a meaningful relationship: companies that deviated from Benford’s Law tended to have weaker correlations between revenue and expenses. </a:t>
            </a:r>
          </a:p>
        </p:txBody>
      </p:sp>
    </p:spTree>
    <p:extLst>
      <p:ext uri="{BB962C8B-B14F-4D97-AF65-F5344CB8AC3E}">
        <p14:creationId xmlns:p14="http://schemas.microsoft.com/office/powerpoint/2010/main" val="2462154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0C42CD-87EF-3510-CD8D-1BEFBCD542A2}"/>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Outlier Detection</a:t>
            </a:r>
          </a:p>
        </p:txBody>
      </p:sp>
      <p:sp>
        <p:nvSpPr>
          <p:cNvPr id="5" name="Content Placeholder 4">
            <a:extLst>
              <a:ext uri="{FF2B5EF4-FFF2-40B4-BE49-F238E27FC236}">
                <a16:creationId xmlns:a16="http://schemas.microsoft.com/office/drawing/2014/main" id="{9B54AE63-E9F7-D6BA-2A06-79860F82AADB}"/>
              </a:ext>
            </a:extLst>
          </p:cNvPr>
          <p:cNvSpPr>
            <a:spLocks noGrp="1"/>
          </p:cNvSpPr>
          <p:nvPr>
            <p:ph sz="half" idx="2"/>
          </p:nvPr>
        </p:nvSpPr>
        <p:spPr/>
        <p:txBody>
          <a:bodyPr>
            <a:normAutofit/>
          </a:bodyPr>
          <a:lstStyle/>
          <a:p>
            <a:r>
              <a:rPr lang="en-US">
                <a:solidFill>
                  <a:srgbClr val="555555"/>
                </a:solidFill>
                <a:latin typeface="Calibri" panose="020F0502020204030204" pitchFamily="34" charset="0"/>
                <a:cs typeface="Calibri" panose="020F0502020204030204" pitchFamily="34" charset="0"/>
              </a:rPr>
              <a:t>Boxplot analysis reveals extreme revenue outliers across multiple financial metrics.</a:t>
            </a:r>
          </a:p>
          <a:p>
            <a:r>
              <a:rPr lang="en-US">
                <a:solidFill>
                  <a:srgbClr val="555555"/>
                </a:solidFill>
                <a:latin typeface="Calibri" panose="020F0502020204030204" pitchFamily="34" charset="0"/>
                <a:cs typeface="Calibri" panose="020F0502020204030204" pitchFamily="34" charset="0"/>
              </a:rPr>
              <a:t>Most firms cluster within normal ranges, but some report significantly higher findings.</a:t>
            </a:r>
          </a:p>
          <a:p>
            <a:r>
              <a:rPr lang="en-US">
                <a:solidFill>
                  <a:srgbClr val="555555"/>
                </a:solidFill>
                <a:latin typeface="Calibri" panose="020F0502020204030204" pitchFamily="34" charset="0"/>
                <a:cs typeface="Calibri" panose="020F0502020204030204" pitchFamily="34" charset="0"/>
              </a:rPr>
              <a:t>These findings align with the skewed revenue distribution observed earlier.</a:t>
            </a:r>
          </a:p>
        </p:txBody>
      </p:sp>
      <p:sp>
        <p:nvSpPr>
          <p:cNvPr id="12" name="TextBox 11">
            <a:extLst>
              <a:ext uri="{FF2B5EF4-FFF2-40B4-BE49-F238E27FC236}">
                <a16:creationId xmlns:a16="http://schemas.microsoft.com/office/drawing/2014/main" id="{881E75AD-1593-90EE-8E87-D2E2D5915319}"/>
              </a:ext>
            </a:extLst>
          </p:cNvPr>
          <p:cNvSpPr txBox="1"/>
          <p:nvPr/>
        </p:nvSpPr>
        <p:spPr>
          <a:xfrm>
            <a:off x="1177410" y="6169709"/>
            <a:ext cx="4299284" cy="646331"/>
          </a:xfrm>
          <a:prstGeom prst="rect">
            <a:avLst/>
          </a:prstGeom>
          <a:noFill/>
        </p:spPr>
        <p:txBody>
          <a:bodyPr wrap="square" rtlCol="0">
            <a:spAutoFit/>
          </a:bodyPr>
          <a:lstStyle/>
          <a:p>
            <a:pPr algn="ctr"/>
            <a:r>
              <a:rPr lang="en-US">
                <a:solidFill>
                  <a:srgbClr val="555555"/>
                </a:solidFill>
                <a:latin typeface="Calibri" panose="020F0502020204030204" pitchFamily="34" charset="0"/>
                <a:cs typeface="Calibri" panose="020F0502020204030204" pitchFamily="34" charset="0"/>
              </a:rPr>
              <a:t>Boxplot showing extreme revenue outliers across financial variables.</a:t>
            </a:r>
          </a:p>
        </p:txBody>
      </p:sp>
      <p:pic>
        <p:nvPicPr>
          <p:cNvPr id="3" name="Picture 2" descr="A diagram of a diagram&#10;&#10;AI-generated content may be incorrect.">
            <a:extLst>
              <a:ext uri="{FF2B5EF4-FFF2-40B4-BE49-F238E27FC236}">
                <a16:creationId xmlns:a16="http://schemas.microsoft.com/office/drawing/2014/main" id="{FED24A38-7662-276D-C8FB-42E6F96ED76B}"/>
              </a:ext>
            </a:extLst>
          </p:cNvPr>
          <p:cNvPicPr>
            <a:picLocks noChangeAspect="1"/>
          </p:cNvPicPr>
          <p:nvPr/>
        </p:nvPicPr>
        <p:blipFill>
          <a:blip r:embed="rId2"/>
          <a:stretch>
            <a:fillRect/>
          </a:stretch>
        </p:blipFill>
        <p:spPr>
          <a:xfrm>
            <a:off x="1160650" y="1690688"/>
            <a:ext cx="4332805" cy="4219596"/>
          </a:xfrm>
          <a:prstGeom prst="rect">
            <a:avLst/>
          </a:prstGeom>
        </p:spPr>
      </p:pic>
    </p:spTree>
    <p:extLst>
      <p:ext uri="{BB962C8B-B14F-4D97-AF65-F5344CB8AC3E}">
        <p14:creationId xmlns:p14="http://schemas.microsoft.com/office/powerpoint/2010/main" val="319915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593D4-4D11-1AE1-9484-1D4B728A3D17}"/>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Key Insights and Implications </a:t>
            </a:r>
          </a:p>
        </p:txBody>
      </p:sp>
      <p:sp>
        <p:nvSpPr>
          <p:cNvPr id="3" name="Content Placeholder 2">
            <a:extLst>
              <a:ext uri="{FF2B5EF4-FFF2-40B4-BE49-F238E27FC236}">
                <a16:creationId xmlns:a16="http://schemas.microsoft.com/office/drawing/2014/main" id="{018456D3-6A30-8227-CC68-D04E55E5E1F3}"/>
              </a:ext>
            </a:extLst>
          </p:cNvPr>
          <p:cNvSpPr>
            <a:spLocks noGrp="1"/>
          </p:cNvSpPr>
          <p:nvPr>
            <p:ph idx="1"/>
          </p:nvPr>
        </p:nvSpPr>
        <p:spPr/>
        <p:txBody>
          <a:bodyPr/>
          <a:lstStyle/>
          <a:p>
            <a:pPr marL="0" indent="0">
              <a:buNone/>
            </a:pPr>
            <a:r>
              <a:rPr lang="en-US">
                <a:solidFill>
                  <a:srgbClr val="555555"/>
                </a:solidFill>
                <a:latin typeface="Calibri" panose="020F0502020204030204" pitchFamily="34" charset="0"/>
                <a:cs typeface="Calibri" panose="020F0502020204030204" pitchFamily="34" charset="0"/>
              </a:rPr>
              <a:t>From our work so far, we learned that: </a:t>
            </a:r>
          </a:p>
          <a:p>
            <a:r>
              <a:rPr lang="en-US">
                <a:solidFill>
                  <a:srgbClr val="555555"/>
                </a:solidFill>
                <a:latin typeface="Calibri" panose="020F0502020204030204" pitchFamily="34" charset="0"/>
                <a:cs typeface="Calibri" panose="020F0502020204030204" pitchFamily="34" charset="0"/>
              </a:rPr>
              <a:t>Benford’s Law is effective for identifying irregular patterns</a:t>
            </a:r>
          </a:p>
          <a:p>
            <a:r>
              <a:rPr lang="en-US">
                <a:solidFill>
                  <a:srgbClr val="555555"/>
                </a:solidFill>
                <a:latin typeface="Calibri" panose="020F0502020204030204" pitchFamily="34" charset="0"/>
                <a:cs typeface="Calibri" panose="020F0502020204030204" pitchFamily="34" charset="0"/>
              </a:rPr>
              <a:t>Outlier detection supports which companies stand out statistically </a:t>
            </a:r>
          </a:p>
          <a:p>
            <a:r>
              <a:rPr lang="en-US">
                <a:solidFill>
                  <a:srgbClr val="555555"/>
                </a:solidFill>
                <a:latin typeface="Calibri" panose="020F0502020204030204" pitchFamily="34" charset="0"/>
                <a:cs typeface="Calibri" panose="020F0502020204030204" pitchFamily="34" charset="0"/>
              </a:rPr>
              <a:t>Using Python provides a balanced and reliable workflow</a:t>
            </a:r>
          </a:p>
          <a:p>
            <a:r>
              <a:rPr lang="en-US">
                <a:solidFill>
                  <a:srgbClr val="555555"/>
                </a:solidFill>
                <a:latin typeface="Calibri" panose="020F0502020204030204" pitchFamily="34" charset="0"/>
                <a:cs typeface="Calibri" panose="020F0502020204030204" pitchFamily="34" charset="0"/>
              </a:rPr>
              <a:t>These methods could support real-world fraud detection and auditing efforts</a:t>
            </a:r>
          </a:p>
        </p:txBody>
      </p:sp>
    </p:spTree>
    <p:extLst>
      <p:ext uri="{BB962C8B-B14F-4D97-AF65-F5344CB8AC3E}">
        <p14:creationId xmlns:p14="http://schemas.microsoft.com/office/powerpoint/2010/main" val="3959180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A2C1A-D180-371A-B674-8E1445051DE5}"/>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Challenges and Limitations </a:t>
            </a:r>
          </a:p>
        </p:txBody>
      </p:sp>
      <p:sp>
        <p:nvSpPr>
          <p:cNvPr id="3" name="Content Placeholder 2">
            <a:extLst>
              <a:ext uri="{FF2B5EF4-FFF2-40B4-BE49-F238E27FC236}">
                <a16:creationId xmlns:a16="http://schemas.microsoft.com/office/drawing/2014/main" id="{719BBCE2-5C67-5C19-13D4-6D9BB5E434CD}"/>
              </a:ext>
            </a:extLst>
          </p:cNvPr>
          <p:cNvSpPr>
            <a:spLocks noGrp="1"/>
          </p:cNvSpPr>
          <p:nvPr>
            <p:ph idx="1"/>
          </p:nvPr>
        </p:nvSpPr>
        <p:spPr/>
        <p:txBody>
          <a:bodyPr/>
          <a:lstStyle/>
          <a:p>
            <a:pPr marL="0" indent="0">
              <a:buNone/>
            </a:pPr>
            <a:r>
              <a:rPr lang="en-US">
                <a:solidFill>
                  <a:srgbClr val="555555"/>
                </a:solidFill>
                <a:latin typeface="Calibri" panose="020F0502020204030204" pitchFamily="34" charset="0"/>
                <a:cs typeface="Calibri" panose="020F0502020204030204" pitchFamily="34" charset="0"/>
              </a:rPr>
              <a:t>Challenges we faced included: </a:t>
            </a:r>
          </a:p>
          <a:p>
            <a:r>
              <a:rPr lang="en-US">
                <a:solidFill>
                  <a:srgbClr val="555555"/>
                </a:solidFill>
                <a:latin typeface="Calibri" panose="020F0502020204030204" pitchFamily="34" charset="0"/>
                <a:cs typeface="Calibri" panose="020F0502020204030204" pitchFamily="34" charset="0"/>
              </a:rPr>
              <a:t>Large dataset sizes and lengthy cleaning processes</a:t>
            </a:r>
          </a:p>
          <a:p>
            <a:r>
              <a:rPr lang="en-US">
                <a:solidFill>
                  <a:srgbClr val="555555"/>
                </a:solidFill>
                <a:latin typeface="Calibri" panose="020F0502020204030204" pitchFamily="34" charset="0"/>
                <a:cs typeface="Calibri" panose="020F0502020204030204" pitchFamily="34" charset="0"/>
              </a:rPr>
              <a:t>Missing or inconsistent financial entries </a:t>
            </a:r>
          </a:p>
          <a:p>
            <a:r>
              <a:rPr lang="en-US">
                <a:solidFill>
                  <a:srgbClr val="555555"/>
                </a:solidFill>
                <a:latin typeface="Calibri" panose="020F0502020204030204" pitchFamily="34" charset="0"/>
                <a:cs typeface="Calibri" panose="020F0502020204030204" pitchFamily="34" charset="0"/>
              </a:rPr>
              <a:t>Difficulty matching company filing to enforcement actions </a:t>
            </a:r>
          </a:p>
          <a:p>
            <a:r>
              <a:rPr lang="en-US">
                <a:solidFill>
                  <a:srgbClr val="555555"/>
                </a:solidFill>
                <a:latin typeface="Calibri" panose="020F0502020204030204" pitchFamily="34" charset="0"/>
                <a:cs typeface="Calibri" panose="020F0502020204030204" pitchFamily="34" charset="0"/>
              </a:rPr>
              <a:t>Heavy computational demands from multi-year data</a:t>
            </a:r>
          </a:p>
          <a:p>
            <a:pPr marL="0" indent="0">
              <a:buNone/>
            </a:pPr>
            <a:r>
              <a:rPr lang="en-US">
                <a:solidFill>
                  <a:srgbClr val="555555"/>
                </a:solidFill>
                <a:latin typeface="Calibri" panose="020F0502020204030204" pitchFamily="34" charset="0"/>
                <a:cs typeface="Calibri" panose="020F0502020204030204" pitchFamily="34" charset="0"/>
              </a:rPr>
              <a:t>Despite these, our analysis provided valuable insight into financial reporting trends.</a:t>
            </a:r>
          </a:p>
          <a:p>
            <a:endParaRPr lang="en-US"/>
          </a:p>
        </p:txBody>
      </p:sp>
    </p:spTree>
    <p:extLst>
      <p:ext uri="{BB962C8B-B14F-4D97-AF65-F5344CB8AC3E}">
        <p14:creationId xmlns:p14="http://schemas.microsoft.com/office/powerpoint/2010/main" val="2468934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2E2A2-8A3C-F52E-05B0-65182143ABCA}"/>
              </a:ext>
            </a:extLst>
          </p:cNvPr>
          <p:cNvSpPr>
            <a:spLocks noGrp="1"/>
          </p:cNvSpPr>
          <p:nvPr>
            <p:ph type="title"/>
          </p:nvPr>
        </p:nvSpPr>
        <p:spPr/>
        <p:txBody>
          <a:bodyPr/>
          <a:lstStyle/>
          <a:p>
            <a:r>
              <a:rPr lang="en-US">
                <a:solidFill>
                  <a:srgbClr val="274472"/>
                </a:solidFill>
                <a:latin typeface="Calibri" panose="020F0502020204030204" pitchFamily="34" charset="0"/>
                <a:cs typeface="Calibri" panose="020F0502020204030204" pitchFamily="34" charset="0"/>
              </a:rPr>
              <a:t>Conclusions</a:t>
            </a:r>
          </a:p>
        </p:txBody>
      </p:sp>
      <p:sp>
        <p:nvSpPr>
          <p:cNvPr id="3" name="Content Placeholder 2">
            <a:extLst>
              <a:ext uri="{FF2B5EF4-FFF2-40B4-BE49-F238E27FC236}">
                <a16:creationId xmlns:a16="http://schemas.microsoft.com/office/drawing/2014/main" id="{5908B867-4182-AFFB-A22D-9ADA4B61740D}"/>
              </a:ext>
            </a:extLst>
          </p:cNvPr>
          <p:cNvSpPr>
            <a:spLocks noGrp="1"/>
          </p:cNvSpPr>
          <p:nvPr>
            <p:ph idx="1"/>
          </p:nvPr>
        </p:nvSpPr>
        <p:spPr/>
        <p:txBody>
          <a:bodyPr/>
          <a:lstStyle/>
          <a:p>
            <a:pPr marL="0" indent="0">
              <a:buNone/>
            </a:pPr>
            <a:r>
              <a:rPr lang="en-US">
                <a:solidFill>
                  <a:srgbClr val="555555"/>
                </a:solidFill>
                <a:latin typeface="Calibri" panose="020F0502020204030204" pitchFamily="34" charset="0"/>
                <a:cs typeface="Calibri" panose="020F0502020204030204" pitchFamily="34" charset="0"/>
              </a:rPr>
              <a:t>Our project demonstrated how data science supports forensic accounting. By comparing financial reports against Benford’s Law and detecting statistical outliers, we can identify patterns that may indicate financial irregularities. </a:t>
            </a:r>
          </a:p>
        </p:txBody>
      </p:sp>
    </p:spTree>
    <p:extLst>
      <p:ext uri="{BB962C8B-B14F-4D97-AF65-F5344CB8AC3E}">
        <p14:creationId xmlns:p14="http://schemas.microsoft.com/office/powerpoint/2010/main" val="1688788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B7D7A-1251-2B77-1A84-89EBC3AB07E1}"/>
              </a:ext>
            </a:extLst>
          </p:cNvPr>
          <p:cNvSpPr>
            <a:spLocks noGrp="1"/>
          </p:cNvSpPr>
          <p:nvPr>
            <p:ph type="title"/>
          </p:nvPr>
        </p:nvSpPr>
        <p:spPr/>
        <p:txBody>
          <a:bodyPr/>
          <a:lstStyle/>
          <a:p>
            <a:r>
              <a:rPr lang="en-US">
                <a:solidFill>
                  <a:srgbClr val="274472"/>
                </a:solidFill>
              </a:rPr>
              <a:t>References</a:t>
            </a:r>
          </a:p>
        </p:txBody>
      </p:sp>
      <p:sp>
        <p:nvSpPr>
          <p:cNvPr id="3" name="Content Placeholder 2">
            <a:extLst>
              <a:ext uri="{FF2B5EF4-FFF2-40B4-BE49-F238E27FC236}">
                <a16:creationId xmlns:a16="http://schemas.microsoft.com/office/drawing/2014/main" id="{3D652A5C-2581-9CCA-1545-21318938DB78}"/>
              </a:ext>
            </a:extLst>
          </p:cNvPr>
          <p:cNvSpPr>
            <a:spLocks noGrp="1"/>
          </p:cNvSpPr>
          <p:nvPr>
            <p:ph idx="1"/>
          </p:nvPr>
        </p:nvSpPr>
        <p:spPr/>
        <p:txBody>
          <a:bodyPr>
            <a:normAutofit/>
          </a:bodyPr>
          <a:lstStyle/>
          <a:p>
            <a:pPr marL="0" indent="-457200">
              <a:buNone/>
            </a:pPr>
            <a:r>
              <a:rPr lang="en-US">
                <a:solidFill>
                  <a:srgbClr val="555555"/>
                </a:solidFill>
                <a:latin typeface="Calibri" panose="020F0502020204030204" pitchFamily="34" charset="0"/>
                <a:cs typeface="Calibri" panose="020F0502020204030204" pitchFamily="34" charset="0"/>
              </a:rPr>
              <a:t>U.S. Securities and Exchange Commission (SEC). (2024). </a:t>
            </a:r>
            <a:r>
              <a:rPr lang="en-US" i="1">
                <a:solidFill>
                  <a:srgbClr val="555555"/>
                </a:solidFill>
                <a:latin typeface="Calibri" panose="020F0502020204030204" pitchFamily="34" charset="0"/>
                <a:cs typeface="Calibri" panose="020F0502020204030204" pitchFamily="34" charset="0"/>
              </a:rPr>
              <a:t>Financial Statement Data Sets</a:t>
            </a:r>
            <a:r>
              <a:rPr lang="en-US">
                <a:solidFill>
                  <a:srgbClr val="555555"/>
                </a:solidFill>
                <a:latin typeface="Calibri" panose="020F0502020204030204" pitchFamily="34" charset="0"/>
                <a:cs typeface="Calibri" panose="020F0502020204030204" pitchFamily="34" charset="0"/>
              </a:rPr>
              <a:t>. </a:t>
            </a:r>
            <a:r>
              <a:rPr lang="en-US">
                <a:solidFill>
                  <a:srgbClr val="555555"/>
                </a:solidFill>
                <a:latin typeface="Calibri" panose="020F0502020204030204" pitchFamily="34" charset="0"/>
                <a:cs typeface="Calibri" panose="020F0502020204030204" pitchFamily="34" charset="0"/>
                <a:hlinkClick r:id="rId2"/>
              </a:rPr>
              <a:t>https://www.sec.gov/dera/data/financial-statement-data-sets</a:t>
            </a:r>
            <a:endParaRPr lang="en-US">
              <a:solidFill>
                <a:srgbClr val="555555"/>
              </a:solidFill>
              <a:latin typeface="Calibri" panose="020F0502020204030204" pitchFamily="34" charset="0"/>
              <a:cs typeface="Calibri" panose="020F0502020204030204" pitchFamily="34" charset="0"/>
            </a:endParaRPr>
          </a:p>
          <a:p>
            <a:pPr marL="0" indent="-457200">
              <a:buNone/>
            </a:pPr>
            <a:r>
              <a:rPr lang="en-US">
                <a:solidFill>
                  <a:srgbClr val="555555"/>
                </a:solidFill>
                <a:latin typeface="Calibri" panose="020F0502020204030204" pitchFamily="34" charset="0"/>
                <a:cs typeface="Calibri" panose="020F0502020204030204" pitchFamily="34" charset="0"/>
              </a:rPr>
              <a:t>U.S. Securities and Exchange Commission (SEC). (2024). </a:t>
            </a:r>
            <a:r>
              <a:rPr lang="en-US" i="1">
                <a:solidFill>
                  <a:srgbClr val="555555"/>
                </a:solidFill>
                <a:latin typeface="Calibri" panose="020F0502020204030204" pitchFamily="34" charset="0"/>
                <a:cs typeface="Calibri" panose="020F0502020204030204" pitchFamily="34" charset="0"/>
              </a:rPr>
              <a:t>Litigation Releases and Enforcement Actions Data</a:t>
            </a:r>
            <a:r>
              <a:rPr lang="en-US">
                <a:solidFill>
                  <a:srgbClr val="555555"/>
                </a:solidFill>
                <a:latin typeface="Calibri" panose="020F0502020204030204" pitchFamily="34" charset="0"/>
                <a:cs typeface="Calibri" panose="020F0502020204030204" pitchFamily="34" charset="0"/>
              </a:rPr>
              <a:t>. </a:t>
            </a:r>
            <a:r>
              <a:rPr lang="en-US">
                <a:solidFill>
                  <a:srgbClr val="555555"/>
                </a:solidFill>
                <a:latin typeface="Calibri" panose="020F0502020204030204" pitchFamily="34" charset="0"/>
                <a:cs typeface="Calibri" panose="020F0502020204030204" pitchFamily="34" charset="0"/>
                <a:hlinkClick r:id="rId3"/>
              </a:rPr>
              <a:t>https://www.sec.gov/litigation/litreleases.htm</a:t>
            </a:r>
            <a:endParaRPr lang="en-US">
              <a:solidFill>
                <a:srgbClr val="555555"/>
              </a:solidFill>
              <a:latin typeface="Calibri" panose="020F0502020204030204" pitchFamily="34" charset="0"/>
              <a:cs typeface="Calibri" panose="020F0502020204030204" pitchFamily="34" charset="0"/>
            </a:endParaRPr>
          </a:p>
          <a:p>
            <a:pPr marL="0" indent="-457200">
              <a:buNone/>
            </a:pPr>
            <a:r>
              <a:rPr lang="en-US" err="1">
                <a:solidFill>
                  <a:srgbClr val="555555"/>
                </a:solidFill>
                <a:latin typeface="Calibri" panose="020F0502020204030204" pitchFamily="34" charset="0"/>
                <a:cs typeface="Calibri" panose="020F0502020204030204" pitchFamily="34" charset="0"/>
              </a:rPr>
              <a:t>Data.gov</a:t>
            </a:r>
            <a:r>
              <a:rPr lang="en-US">
                <a:solidFill>
                  <a:srgbClr val="555555"/>
                </a:solidFill>
                <a:latin typeface="Calibri" panose="020F0502020204030204" pitchFamily="34" charset="0"/>
                <a:cs typeface="Calibri" panose="020F0502020204030204" pitchFamily="34" charset="0"/>
              </a:rPr>
              <a:t>. (2024). </a:t>
            </a:r>
            <a:r>
              <a:rPr lang="en-US" i="1">
                <a:solidFill>
                  <a:srgbClr val="555555"/>
                </a:solidFill>
                <a:latin typeface="Calibri" panose="020F0502020204030204" pitchFamily="34" charset="0"/>
                <a:cs typeface="Calibri" panose="020F0502020204030204" pitchFamily="34" charset="0"/>
              </a:rPr>
              <a:t>Open Data Portal</a:t>
            </a:r>
            <a:r>
              <a:rPr lang="en-US">
                <a:solidFill>
                  <a:srgbClr val="555555"/>
                </a:solidFill>
                <a:latin typeface="Calibri" panose="020F0502020204030204" pitchFamily="34" charset="0"/>
                <a:cs typeface="Calibri" panose="020F0502020204030204" pitchFamily="34" charset="0"/>
              </a:rPr>
              <a:t>. </a:t>
            </a:r>
            <a:r>
              <a:rPr lang="en-US">
                <a:solidFill>
                  <a:srgbClr val="555555"/>
                </a:solidFill>
                <a:latin typeface="Calibri" panose="020F0502020204030204" pitchFamily="34" charset="0"/>
                <a:cs typeface="Calibri" panose="020F0502020204030204" pitchFamily="34" charset="0"/>
                <a:hlinkClick r:id="rId4"/>
              </a:rPr>
              <a:t>https://www.data.gov/</a:t>
            </a:r>
            <a:endParaRPr lang="en-US">
              <a:solidFill>
                <a:srgbClr val="555555"/>
              </a:solidFill>
              <a:latin typeface="Calibri" panose="020F0502020204030204" pitchFamily="34" charset="0"/>
              <a:cs typeface="Calibri" panose="020F0502020204030204" pitchFamily="34" charset="0"/>
            </a:endParaRPr>
          </a:p>
          <a:p>
            <a:pPr marL="0" indent="-457200">
              <a:buNone/>
            </a:pPr>
            <a:endParaRPr lang="en-US">
              <a:solidFill>
                <a:srgbClr val="555555"/>
              </a:solidFill>
              <a:latin typeface="Calibri" panose="020F0502020204030204" pitchFamily="34" charset="0"/>
              <a:cs typeface="Calibri" panose="020F0502020204030204" pitchFamily="34" charset="0"/>
            </a:endParaRPr>
          </a:p>
          <a:p>
            <a:pPr marL="0" indent="-457200">
              <a:buNone/>
            </a:pPr>
            <a:endParaRPr lang="en-US">
              <a:solidFill>
                <a:srgbClr val="555555"/>
              </a:solidFill>
            </a:endParaRPr>
          </a:p>
          <a:p>
            <a:pPr marL="0" indent="0">
              <a:buNone/>
            </a:pPr>
            <a:endParaRPr lang="en-US">
              <a:solidFill>
                <a:srgbClr val="555555"/>
              </a:solidFill>
            </a:endParaRPr>
          </a:p>
        </p:txBody>
      </p:sp>
    </p:spTree>
    <p:extLst>
      <p:ext uri="{BB962C8B-B14F-4D97-AF65-F5344CB8AC3E}">
        <p14:creationId xmlns:p14="http://schemas.microsoft.com/office/powerpoint/2010/main" val="490261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emplate/>
  <TotalTime>0</TotalTime>
  <Words>896</Words>
  <Application>Microsoft Macintosh PowerPoint</Application>
  <PresentationFormat>Widescreen</PresentationFormat>
  <Paragraphs>96</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Calibri</vt:lpstr>
      <vt:lpstr>Calibri Light</vt:lpstr>
      <vt:lpstr>Office Theme</vt:lpstr>
      <vt:lpstr>Forensic Accounting: Detecting Financial Anomalies Using Benford’s Law </vt:lpstr>
      <vt:lpstr>Project Overview</vt:lpstr>
      <vt:lpstr>Dataset Overview</vt:lpstr>
      <vt:lpstr>Hypotheses </vt:lpstr>
      <vt:lpstr>Data Processing</vt:lpstr>
      <vt:lpstr>Exploratory Data Analysis</vt:lpstr>
      <vt:lpstr>Exploratory Data Analysis: Industry Patterns</vt:lpstr>
      <vt:lpstr>Benford’s Law Analysis</vt:lpstr>
      <vt:lpstr>Company-Level Benford Comparisons </vt:lpstr>
      <vt:lpstr>Statistical Test Results and Hypothesis Outcomes </vt:lpstr>
      <vt:lpstr>Outlier Detection</vt:lpstr>
      <vt:lpstr>Key Insights and Implications </vt:lpstr>
      <vt:lpstr>Challenges and Limitations </vt:lpstr>
      <vt:lpstr>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Harlie Lockhart</dc:creator>
  <cp:lastModifiedBy>Ian Horton</cp:lastModifiedBy>
  <cp:revision>2</cp:revision>
  <dcterms:created xsi:type="dcterms:W3CDTF">2025-11-01T23:49:20Z</dcterms:created>
  <dcterms:modified xsi:type="dcterms:W3CDTF">2025-11-25T15:52:25Z</dcterms:modified>
</cp:coreProperties>
</file>